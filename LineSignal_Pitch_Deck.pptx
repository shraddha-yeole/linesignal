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9"/>
  </p:normalViewPr>
  <p:slideViewPr>
    <p:cSldViewPr snapToGrid="0" snapToObjects="1">
      <p:cViewPr varScale="1">
        <p:scale>
          <a:sx n="110" d="100"/>
          <a:sy n="110" d="100"/>
        </p:scale>
        <p:origin x="82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8908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factory robot depends on a wireless network. When a robot stops, nobody can tell whether it's the robot, the network, or the data. LineSignal can, in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Picture a factory robot that keeps pausing. Parts reach the line late. The robot team says the robot is fine. The network team says the Wi-Fi is fine. Three hours later, it turns out to be one bad Wi-Fi hotspot. In a car plant, that costs 2.3 million dollars an hour. The people who feel this are plant managers at car plants, warehouses and electronics factories. Waymo saw the same thing in San Francisco last December: the cars were fine, but the network they depended on wasn't.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robot, same morning. LineSignal spots the slowdown on its own, and says in plain English: it's Wi-Fi hotspot 7, not the robot. A manager approves the fix, and LineSignal proves with real data that the line is back to full speed. There are 4.7 million robots in factories today, and 6 million mobile robots will ship every year by 2030. Every one depends on wireless. The world is spending 725 billion dollars this year on data centers for AI's brain. Nobody is watching the network that powers its hands.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 the 60 to 90 second video. The robot pauses, LineSignal finds the cause automatically, a manager approves the fix, and the data shows the line recovered. Then switch to the robot-fault scenario to show it doesn't always blame the Wi-Fi.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changed. Robot fleets keep growing, about 9 percent a year. Factories are moving them onto wireless, including private 5G, growing 44 percent a year. And AI can now explain a fault in plain English, with safety checks, in seconds. That combination didn't exist two years ago.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buyer is the VP of Operations or plant manager. They own output and pay for every minute of downtime. Our daily users are the robotics, network and maintenance teams, who today point fingers at each other. We start with car plants, warehouses and electronics factories, which run the biggest fleets and have the costliest downtime. The company names are the kind of operators we are targeting, not current customers.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Bottom-up, this is our estimate: about 5 million robots at roughly 360 dollars a year each is a 1.8 billion dollar opportunity today, and it grows with every robot shipped. Two adjacent markets validate the spend: network observability, 3.4 to 10.2 billion by 2034, and private factory networks, 1.4 to 8.5 billion by 2031. Next, robotaxis and delivery fleets on cellular networks.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Robot fleet tools like Formant and InOrbit watch the robots. Wi-Fi AI tools like Juniper Mist and Cisco Meraki watch the network. IT monitoring like Datadog and Dynatrace was built for servers and cloud. Nobody connects the robot, the network and the data. Our edge is a live map of what depends on what, so we can tell a robot fault from a Wi-Fi fault from a data problem, in plain English.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9662B370-43E6-5080-3A1C-06EAA40FAE79}"/>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822960" y="2240280"/>
            <a:ext cx="109728" cy="1143000"/>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43000" y="2103120"/>
            <a:ext cx="9144000" cy="914400"/>
          </a:xfrm>
          <a:prstGeom prst="rect">
            <a:avLst/>
          </a:prstGeom>
          <a:noFill/>
        </p:spPr>
        <p:txBody>
          <a:bodyPr wrap="square" lIns="0" rIns="0" anchor="t">
            <a:spAutoFit/>
          </a:bodyPr>
          <a:lstStyle/>
          <a:p>
            <a:pPr algn="l">
              <a:spcAft>
                <a:spcPts val="2310"/>
              </a:spcAft>
            </a:pPr>
            <a:r>
              <a:rPr sz="6600" b="1">
                <a:solidFill>
                  <a:srgbClr val="FFFFFF"/>
                </a:solidFill>
                <a:latin typeface="Helvetica Neue"/>
              </a:rPr>
              <a:t>LineSignal</a:t>
            </a:r>
          </a:p>
        </p:txBody>
      </p:sp>
      <p:sp>
        <p:nvSpPr>
          <p:cNvPr id="4" name="TextBox 3"/>
          <p:cNvSpPr txBox="1"/>
          <p:nvPr/>
        </p:nvSpPr>
        <p:spPr>
          <a:xfrm>
            <a:off x="1143000" y="3246120"/>
            <a:ext cx="10058400" cy="640080"/>
          </a:xfrm>
          <a:prstGeom prst="rect">
            <a:avLst/>
          </a:prstGeom>
          <a:noFill/>
        </p:spPr>
        <p:txBody>
          <a:bodyPr wrap="square" lIns="0" rIns="0" anchor="t">
            <a:spAutoFit/>
          </a:bodyPr>
          <a:lstStyle/>
          <a:p>
            <a:pPr algn="l">
              <a:spcAft>
                <a:spcPts val="979"/>
              </a:spcAft>
            </a:pPr>
            <a:r>
              <a:rPr sz="2800" b="0">
                <a:solidFill>
                  <a:srgbClr val="2DD4BF"/>
                </a:solidFill>
                <a:latin typeface="Helvetica Neue"/>
              </a:rPr>
              <a:t>Finds out why robots stop, in seconds instead of hours.</a:t>
            </a:r>
          </a:p>
        </p:txBody>
      </p:sp>
      <p:sp>
        <p:nvSpPr>
          <p:cNvPr id="5" name="TextBox 4"/>
          <p:cNvSpPr txBox="1"/>
          <p:nvPr/>
        </p:nvSpPr>
        <p:spPr>
          <a:xfrm>
            <a:off x="1143000" y="4114800"/>
            <a:ext cx="10058400" cy="457200"/>
          </a:xfrm>
          <a:prstGeom prst="rect">
            <a:avLst/>
          </a:prstGeom>
          <a:noFill/>
        </p:spPr>
        <p:txBody>
          <a:bodyPr wrap="square" lIns="0" rIns="0" anchor="t">
            <a:spAutoFit/>
          </a:bodyPr>
          <a:lstStyle/>
          <a:p>
            <a:pPr algn="l">
              <a:spcAft>
                <a:spcPts val="630"/>
              </a:spcAft>
            </a:pPr>
            <a:r>
              <a:rPr sz="1800" b="0">
                <a:solidFill>
                  <a:srgbClr val="94A3B8"/>
                </a:solidFill>
                <a:latin typeface="Helvetica Neue"/>
              </a:rPr>
              <a:t>For factories and warehouses running robot fleets.</a:t>
            </a:r>
          </a:p>
        </p:txBody>
      </p:sp>
      <p:sp>
        <p:nvSpPr>
          <p:cNvPr id="6" name="TextBox 5"/>
          <p:cNvSpPr txBox="1"/>
          <p:nvPr/>
        </p:nvSpPr>
        <p:spPr>
          <a:xfrm>
            <a:off x="1143000" y="5852160"/>
            <a:ext cx="7315200" cy="36576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[Presenter name]  ·  [Role]  ·  [email]</a:t>
            </a:r>
          </a:p>
        </p:txBody>
      </p:sp>
      <p:sp>
        <p:nvSpPr>
          <p:cNvPr id="7" name="TextBox 6"/>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THE PROBLEM</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A robot keeps stopping. Nobody knows why.</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2/8</a:t>
            </a:r>
          </a:p>
        </p:txBody>
      </p:sp>
      <p:sp>
        <p:nvSpPr>
          <p:cNvPr id="6" name="TextBox 5"/>
          <p:cNvSpPr txBox="1"/>
          <p:nvPr/>
        </p:nvSpPr>
        <p:spPr>
          <a:xfrm>
            <a:off x="548640" y="6400800"/>
            <a:ext cx="9509760" cy="274320"/>
          </a:xfrm>
          <a:prstGeom prst="rect">
            <a:avLst/>
          </a:prstGeom>
          <a:noFill/>
        </p:spPr>
        <p:txBody>
          <a:bodyPr wrap="square" lIns="0" rIns="0" anchor="t">
            <a:spAutoFit/>
          </a:bodyPr>
          <a:lstStyle/>
          <a:p>
            <a:pPr algn="l">
              <a:spcAft>
                <a:spcPts val="315"/>
              </a:spcAft>
            </a:pPr>
            <a:r>
              <a:rPr sz="900" b="0">
                <a:solidFill>
                  <a:srgbClr val="94A3B8"/>
                </a:solidFill>
                <a:latin typeface="Helvetica Neue"/>
              </a:rPr>
              <a:t>Sources: Siemens, The True Cost of Downtime 2024.</a:t>
            </a:r>
          </a:p>
        </p:txBody>
      </p:sp>
      <p:sp>
        <p:nvSpPr>
          <p:cNvPr id="7" name="Rounded Rectangle 6"/>
          <p:cNvSpPr/>
          <p:nvPr/>
        </p:nvSpPr>
        <p:spPr>
          <a:xfrm>
            <a:off x="548640" y="2148840"/>
            <a:ext cx="213360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148840"/>
            <a:ext cx="2133600" cy="8229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468880"/>
            <a:ext cx="1584960" cy="457200"/>
          </a:xfrm>
          <a:prstGeom prst="rect">
            <a:avLst/>
          </a:prstGeom>
          <a:noFill/>
        </p:spPr>
        <p:txBody>
          <a:bodyPr wrap="square" lIns="0" rIns="0" anchor="t">
            <a:spAutoFit/>
          </a:bodyPr>
          <a:lstStyle/>
          <a:p>
            <a:pPr algn="l">
              <a:spcAft>
                <a:spcPts val="839"/>
              </a:spcAft>
            </a:pPr>
            <a:r>
              <a:rPr sz="2400" b="1">
                <a:solidFill>
                  <a:srgbClr val="FBBF24"/>
                </a:solidFill>
                <a:latin typeface="Helvetica Neue"/>
              </a:rPr>
              <a:t>9:00 AM</a:t>
            </a:r>
          </a:p>
        </p:txBody>
      </p:sp>
      <p:sp>
        <p:nvSpPr>
          <p:cNvPr id="10" name="TextBox 9"/>
          <p:cNvSpPr txBox="1"/>
          <p:nvPr/>
        </p:nvSpPr>
        <p:spPr>
          <a:xfrm>
            <a:off x="822960" y="3017520"/>
            <a:ext cx="1584960" cy="457200"/>
          </a:xfrm>
          <a:prstGeom prst="rect">
            <a:avLst/>
          </a:prstGeom>
          <a:noFill/>
        </p:spPr>
        <p:txBody>
          <a:bodyPr wrap="square" lIns="0" rIns="0" anchor="t">
            <a:spAutoFit/>
          </a:bodyPr>
          <a:lstStyle/>
          <a:p>
            <a:pPr algn="l">
              <a:spcAft>
                <a:spcPts val="455"/>
              </a:spcAft>
            </a:pPr>
            <a:r>
              <a:rPr sz="1300" b="1">
                <a:solidFill>
                  <a:srgbClr val="94A3B8"/>
                </a:solidFill>
                <a:latin typeface="Helvetica Neue"/>
              </a:rPr>
              <a:t>SYMPTOM</a:t>
            </a:r>
          </a:p>
        </p:txBody>
      </p:sp>
      <p:sp>
        <p:nvSpPr>
          <p:cNvPr id="11" name="TextBox 10"/>
          <p:cNvSpPr txBox="1"/>
          <p:nvPr/>
        </p:nvSpPr>
        <p:spPr>
          <a:xfrm>
            <a:off x="822960" y="3474720"/>
            <a:ext cx="1584960" cy="1645920"/>
          </a:xfrm>
          <a:prstGeom prst="rect">
            <a:avLst/>
          </a:prstGeom>
          <a:noFill/>
        </p:spPr>
        <p:txBody>
          <a:bodyPr wrap="square" lIns="0" rIns="0" anchor="t">
            <a:spAutoFit/>
          </a:bodyPr>
          <a:lstStyle/>
          <a:p>
            <a:pPr algn="l">
              <a:spcAft>
                <a:spcPts val="594"/>
              </a:spcAft>
            </a:pPr>
            <a:r>
              <a:rPr sz="1700" b="0">
                <a:solidFill>
                  <a:srgbClr val="FFFFFF"/>
                </a:solidFill>
                <a:latin typeface="Helvetica Neue"/>
              </a:rPr>
              <a:t>Robot A12 keeps pausing. Parts reach the assembly line late.</a:t>
            </a:r>
          </a:p>
        </p:txBody>
      </p:sp>
      <p:sp>
        <p:nvSpPr>
          <p:cNvPr id="12" name="Rounded Rectangle 11"/>
          <p:cNvSpPr/>
          <p:nvPr/>
        </p:nvSpPr>
        <p:spPr>
          <a:xfrm>
            <a:off x="2956560" y="2148840"/>
            <a:ext cx="213360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56560" y="2148840"/>
            <a:ext cx="2133600" cy="82296"/>
          </a:xfrm>
          <a:prstGeom prst="rect">
            <a:avLst/>
          </a:prstGeom>
          <a:solidFill>
            <a:srgbClr val="FBBF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30880" y="2468880"/>
            <a:ext cx="1584960" cy="457200"/>
          </a:xfrm>
          <a:prstGeom prst="rect">
            <a:avLst/>
          </a:prstGeom>
          <a:noFill/>
        </p:spPr>
        <p:txBody>
          <a:bodyPr wrap="square" lIns="0" rIns="0" anchor="t">
            <a:spAutoFit/>
          </a:bodyPr>
          <a:lstStyle/>
          <a:p>
            <a:pPr algn="l">
              <a:spcAft>
                <a:spcPts val="839"/>
              </a:spcAft>
            </a:pPr>
            <a:r>
              <a:rPr sz="2400" b="1">
                <a:solidFill>
                  <a:srgbClr val="FBBF24"/>
                </a:solidFill>
                <a:latin typeface="Helvetica Neue"/>
              </a:rPr>
              <a:t>9:05 AM</a:t>
            </a:r>
          </a:p>
        </p:txBody>
      </p:sp>
      <p:sp>
        <p:nvSpPr>
          <p:cNvPr id="15" name="TextBox 14"/>
          <p:cNvSpPr txBox="1"/>
          <p:nvPr/>
        </p:nvSpPr>
        <p:spPr>
          <a:xfrm>
            <a:off x="3230880" y="3017520"/>
            <a:ext cx="1584960" cy="457200"/>
          </a:xfrm>
          <a:prstGeom prst="rect">
            <a:avLst/>
          </a:prstGeom>
          <a:noFill/>
        </p:spPr>
        <p:txBody>
          <a:bodyPr wrap="square" lIns="0" rIns="0" anchor="t">
            <a:spAutoFit/>
          </a:bodyPr>
          <a:lstStyle/>
          <a:p>
            <a:pPr algn="l">
              <a:spcAft>
                <a:spcPts val="455"/>
              </a:spcAft>
            </a:pPr>
            <a:r>
              <a:rPr sz="1300" b="1">
                <a:solidFill>
                  <a:srgbClr val="94A3B8"/>
                </a:solidFill>
                <a:latin typeface="Helvetica Neue"/>
              </a:rPr>
              <a:t>BLAME</a:t>
            </a:r>
          </a:p>
        </p:txBody>
      </p:sp>
      <p:sp>
        <p:nvSpPr>
          <p:cNvPr id="16" name="TextBox 15"/>
          <p:cNvSpPr txBox="1"/>
          <p:nvPr/>
        </p:nvSpPr>
        <p:spPr>
          <a:xfrm>
            <a:off x="3230880" y="3474720"/>
            <a:ext cx="1584960" cy="1645920"/>
          </a:xfrm>
          <a:prstGeom prst="rect">
            <a:avLst/>
          </a:prstGeom>
          <a:noFill/>
        </p:spPr>
        <p:txBody>
          <a:bodyPr wrap="square" lIns="0" rIns="0" anchor="t">
            <a:spAutoFit/>
          </a:bodyPr>
          <a:lstStyle/>
          <a:p>
            <a:pPr algn="l">
              <a:spcAft>
                <a:spcPts val="594"/>
              </a:spcAft>
            </a:pPr>
            <a:r>
              <a:rPr sz="1700" b="0">
                <a:solidFill>
                  <a:srgbClr val="FFFFFF"/>
                </a:solidFill>
                <a:latin typeface="Helvetica Neue"/>
              </a:rPr>
              <a:t>Robot team: “the robot is fine.” Network team: “the Wi-Fi is fine.”</a:t>
            </a:r>
          </a:p>
        </p:txBody>
      </p:sp>
      <p:sp>
        <p:nvSpPr>
          <p:cNvPr id="17" name="Rounded Rectangle 16"/>
          <p:cNvSpPr/>
          <p:nvPr/>
        </p:nvSpPr>
        <p:spPr>
          <a:xfrm>
            <a:off x="5364480" y="2148840"/>
            <a:ext cx="213360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64480" y="2148840"/>
            <a:ext cx="2133600" cy="82296"/>
          </a:xfrm>
          <a:prstGeom prst="rect">
            <a:avLst/>
          </a:prstGeom>
          <a:solidFill>
            <a:srgbClr val="F871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38800" y="2468880"/>
            <a:ext cx="1584960" cy="457200"/>
          </a:xfrm>
          <a:prstGeom prst="rect">
            <a:avLst/>
          </a:prstGeom>
          <a:noFill/>
        </p:spPr>
        <p:txBody>
          <a:bodyPr wrap="square" lIns="0" rIns="0" anchor="t">
            <a:spAutoFit/>
          </a:bodyPr>
          <a:lstStyle/>
          <a:p>
            <a:pPr algn="l">
              <a:spcAft>
                <a:spcPts val="839"/>
              </a:spcAft>
            </a:pPr>
            <a:r>
              <a:rPr sz="2400" b="1">
                <a:solidFill>
                  <a:srgbClr val="F87171"/>
                </a:solidFill>
                <a:latin typeface="Helvetica Neue"/>
              </a:rPr>
              <a:t>12:00 PM</a:t>
            </a:r>
          </a:p>
        </p:txBody>
      </p:sp>
      <p:sp>
        <p:nvSpPr>
          <p:cNvPr id="20" name="TextBox 19"/>
          <p:cNvSpPr txBox="1"/>
          <p:nvPr/>
        </p:nvSpPr>
        <p:spPr>
          <a:xfrm>
            <a:off x="5638800" y="3017520"/>
            <a:ext cx="1584960" cy="457200"/>
          </a:xfrm>
          <a:prstGeom prst="rect">
            <a:avLst/>
          </a:prstGeom>
          <a:noFill/>
        </p:spPr>
        <p:txBody>
          <a:bodyPr wrap="square" lIns="0" rIns="0" anchor="t">
            <a:spAutoFit/>
          </a:bodyPr>
          <a:lstStyle/>
          <a:p>
            <a:pPr algn="l">
              <a:spcAft>
                <a:spcPts val="455"/>
              </a:spcAft>
            </a:pPr>
            <a:r>
              <a:rPr sz="1300" b="1">
                <a:solidFill>
                  <a:srgbClr val="94A3B8"/>
                </a:solidFill>
                <a:latin typeface="Helvetica Neue"/>
              </a:rPr>
              <a:t>3 HOURS LATER</a:t>
            </a:r>
          </a:p>
        </p:txBody>
      </p:sp>
      <p:sp>
        <p:nvSpPr>
          <p:cNvPr id="21" name="TextBox 20"/>
          <p:cNvSpPr txBox="1"/>
          <p:nvPr/>
        </p:nvSpPr>
        <p:spPr>
          <a:xfrm>
            <a:off x="5638800" y="3474720"/>
            <a:ext cx="1584960" cy="1645920"/>
          </a:xfrm>
          <a:prstGeom prst="rect">
            <a:avLst/>
          </a:prstGeom>
          <a:noFill/>
        </p:spPr>
        <p:txBody>
          <a:bodyPr wrap="square" lIns="0" rIns="0" anchor="t">
            <a:spAutoFit/>
          </a:bodyPr>
          <a:lstStyle/>
          <a:p>
            <a:pPr algn="l">
              <a:spcAft>
                <a:spcPts val="594"/>
              </a:spcAft>
            </a:pPr>
            <a:r>
              <a:rPr sz="1700" b="0">
                <a:solidFill>
                  <a:srgbClr val="FFFFFF"/>
                </a:solidFill>
                <a:latin typeface="Helvetica Neue"/>
              </a:rPr>
              <a:t>The cause: one bad Wi-Fi hotspot.</a:t>
            </a:r>
          </a:p>
        </p:txBody>
      </p:sp>
      <p:sp>
        <p:nvSpPr>
          <p:cNvPr id="22" name="Rounded Rectangle 21"/>
          <p:cNvSpPr/>
          <p:nvPr/>
        </p:nvSpPr>
        <p:spPr>
          <a:xfrm>
            <a:off x="7818120" y="2148840"/>
            <a:ext cx="3822191" cy="146304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38160" y="2350008"/>
            <a:ext cx="3182111" cy="914400"/>
          </a:xfrm>
          <a:prstGeom prst="rect">
            <a:avLst/>
          </a:prstGeom>
          <a:noFill/>
        </p:spPr>
        <p:txBody>
          <a:bodyPr wrap="square" lIns="0" rIns="0" anchor="t">
            <a:spAutoFit/>
          </a:bodyPr>
          <a:lstStyle/>
          <a:p>
            <a:pPr algn="l">
              <a:spcAft>
                <a:spcPts val="1400"/>
              </a:spcAft>
            </a:pPr>
            <a:r>
              <a:rPr sz="4000" b="1">
                <a:solidFill>
                  <a:srgbClr val="F87171"/>
                </a:solidFill>
                <a:latin typeface="Helvetica Neue"/>
              </a:rPr>
              <a:t>$2.3M</a:t>
            </a:r>
          </a:p>
        </p:txBody>
      </p:sp>
      <p:sp>
        <p:nvSpPr>
          <p:cNvPr id="24" name="TextBox 23"/>
          <p:cNvSpPr txBox="1"/>
          <p:nvPr/>
        </p:nvSpPr>
        <p:spPr>
          <a:xfrm>
            <a:off x="8138160" y="3010408"/>
            <a:ext cx="3182111"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per hour when a car plant’s line stops</a:t>
            </a:r>
          </a:p>
        </p:txBody>
      </p:sp>
      <p:sp>
        <p:nvSpPr>
          <p:cNvPr id="25" name="Rounded Rectangle 24"/>
          <p:cNvSpPr/>
          <p:nvPr/>
        </p:nvSpPr>
        <p:spPr>
          <a:xfrm>
            <a:off x="7818120" y="3703320"/>
            <a:ext cx="3822191" cy="146304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0" y="3904488"/>
            <a:ext cx="3182111" cy="914400"/>
          </a:xfrm>
          <a:prstGeom prst="rect">
            <a:avLst/>
          </a:prstGeom>
          <a:noFill/>
        </p:spPr>
        <p:txBody>
          <a:bodyPr wrap="square" lIns="0" rIns="0" anchor="t">
            <a:spAutoFit/>
          </a:bodyPr>
          <a:lstStyle/>
          <a:p>
            <a:pPr algn="l">
              <a:spcAft>
                <a:spcPts val="1400"/>
              </a:spcAft>
            </a:pPr>
            <a:r>
              <a:rPr sz="4000" b="1">
                <a:solidFill>
                  <a:srgbClr val="F87171"/>
                </a:solidFill>
                <a:latin typeface="Helvetica Neue"/>
              </a:rPr>
              <a:t>$1.4T</a:t>
            </a:r>
          </a:p>
        </p:txBody>
      </p:sp>
      <p:sp>
        <p:nvSpPr>
          <p:cNvPr id="27" name="TextBox 26"/>
          <p:cNvSpPr txBox="1"/>
          <p:nvPr/>
        </p:nvSpPr>
        <p:spPr>
          <a:xfrm>
            <a:off x="8138160" y="4564888"/>
            <a:ext cx="3182111"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lost yearly to unplanned downtime by the world’s 500 largest companies</a:t>
            </a:r>
          </a:p>
        </p:txBody>
      </p:sp>
      <p:sp>
        <p:nvSpPr>
          <p:cNvPr id="28" name="Rounded Rectangle 27"/>
          <p:cNvSpPr/>
          <p:nvPr/>
        </p:nvSpPr>
        <p:spPr>
          <a:xfrm>
            <a:off x="548640" y="5532120"/>
            <a:ext cx="11091672" cy="685800"/>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532120"/>
            <a:ext cx="10607040" cy="685800"/>
          </a:xfrm>
          <a:prstGeom prst="rect">
            <a:avLst/>
          </a:prstGeom>
          <a:noFill/>
        </p:spPr>
        <p:txBody>
          <a:bodyPr wrap="square" lIns="0" rIns="0" anchor="ctr">
            <a:spAutoFit/>
          </a:bodyPr>
          <a:lstStyle/>
          <a:p>
            <a:pPr algn="l">
              <a:spcAft>
                <a:spcPts val="665"/>
              </a:spcAft>
            </a:pPr>
            <a:r>
              <a:rPr sz="1900" b="1">
                <a:solidFill>
                  <a:srgbClr val="FFFFFF"/>
                </a:solidFill>
                <a:latin typeface="Helvetica Neue"/>
              </a:rPr>
              <a:t>Robots rarely fail alone. They fail because of the network they depend on, and today nobody can see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THE SOLUTION</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LineSignal finds the cause in seconds, not hours.</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3/8</a:t>
            </a:r>
          </a:p>
        </p:txBody>
      </p:sp>
      <p:sp>
        <p:nvSpPr>
          <p:cNvPr id="6" name="TextBox 5"/>
          <p:cNvSpPr txBox="1"/>
          <p:nvPr/>
        </p:nvSpPr>
        <p:spPr>
          <a:xfrm>
            <a:off x="548640" y="6400800"/>
            <a:ext cx="9509760" cy="274320"/>
          </a:xfrm>
          <a:prstGeom prst="rect">
            <a:avLst/>
          </a:prstGeom>
          <a:noFill/>
        </p:spPr>
        <p:txBody>
          <a:bodyPr wrap="square" lIns="0" rIns="0" anchor="t">
            <a:spAutoFit/>
          </a:bodyPr>
          <a:lstStyle/>
          <a:p>
            <a:pPr algn="l">
              <a:spcAft>
                <a:spcPts val="315"/>
              </a:spcAft>
            </a:pPr>
            <a:r>
              <a:rPr sz="900" b="0">
                <a:solidFill>
                  <a:srgbClr val="94A3B8"/>
                </a:solidFill>
                <a:latin typeface="Helvetica Neue"/>
              </a:rPr>
              <a:t>Sources: IFR World Robotics 2025; ABI Research (mobile robot shipments, 2030).</a:t>
            </a:r>
          </a:p>
        </p:txBody>
      </p:sp>
      <p:sp>
        <p:nvSpPr>
          <p:cNvPr id="7" name="Rounded Rectangle 6"/>
          <p:cNvSpPr/>
          <p:nvPr/>
        </p:nvSpPr>
        <p:spPr>
          <a:xfrm>
            <a:off x="548640" y="2148840"/>
            <a:ext cx="213360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2148840"/>
            <a:ext cx="2133600" cy="822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468880"/>
            <a:ext cx="1584960" cy="457200"/>
          </a:xfrm>
          <a:prstGeom prst="rect">
            <a:avLst/>
          </a:prstGeom>
          <a:noFill/>
        </p:spPr>
        <p:txBody>
          <a:bodyPr wrap="square" lIns="0" rIns="0" anchor="t">
            <a:spAutoFit/>
          </a:bodyPr>
          <a:lstStyle/>
          <a:p>
            <a:pPr algn="l">
              <a:spcAft>
                <a:spcPts val="839"/>
              </a:spcAft>
            </a:pPr>
            <a:r>
              <a:rPr sz="2400" b="1">
                <a:solidFill>
                  <a:srgbClr val="2DD4BF"/>
                </a:solidFill>
                <a:latin typeface="Helvetica Neue"/>
              </a:rPr>
              <a:t>9:00 AM</a:t>
            </a:r>
          </a:p>
        </p:txBody>
      </p:sp>
      <p:sp>
        <p:nvSpPr>
          <p:cNvPr id="10" name="TextBox 9"/>
          <p:cNvSpPr txBox="1"/>
          <p:nvPr/>
        </p:nvSpPr>
        <p:spPr>
          <a:xfrm>
            <a:off x="822960" y="3017520"/>
            <a:ext cx="1584960" cy="457200"/>
          </a:xfrm>
          <a:prstGeom prst="rect">
            <a:avLst/>
          </a:prstGeom>
          <a:noFill/>
        </p:spPr>
        <p:txBody>
          <a:bodyPr wrap="square" lIns="0" rIns="0" anchor="t">
            <a:spAutoFit/>
          </a:bodyPr>
          <a:lstStyle/>
          <a:p>
            <a:pPr algn="l">
              <a:spcAft>
                <a:spcPts val="455"/>
              </a:spcAft>
            </a:pPr>
            <a:r>
              <a:rPr sz="1300" b="1">
                <a:solidFill>
                  <a:srgbClr val="94A3B8"/>
                </a:solidFill>
                <a:latin typeface="Helvetica Neue"/>
              </a:rPr>
              <a:t>SPOTTED</a:t>
            </a:r>
          </a:p>
        </p:txBody>
      </p:sp>
      <p:sp>
        <p:nvSpPr>
          <p:cNvPr id="11" name="TextBox 10"/>
          <p:cNvSpPr txBox="1"/>
          <p:nvPr/>
        </p:nvSpPr>
        <p:spPr>
          <a:xfrm>
            <a:off x="822960" y="3474720"/>
            <a:ext cx="1584960" cy="1645920"/>
          </a:xfrm>
          <a:prstGeom prst="rect">
            <a:avLst/>
          </a:prstGeom>
          <a:noFill/>
        </p:spPr>
        <p:txBody>
          <a:bodyPr wrap="square" lIns="0" rIns="0" anchor="t">
            <a:spAutoFit/>
          </a:bodyPr>
          <a:lstStyle/>
          <a:p>
            <a:pPr algn="l">
              <a:spcAft>
                <a:spcPts val="594"/>
              </a:spcAft>
            </a:pPr>
            <a:r>
              <a:rPr sz="1700" b="0">
                <a:solidFill>
                  <a:srgbClr val="FFFFFF"/>
                </a:solidFill>
                <a:latin typeface="Helvetica Neue"/>
              </a:rPr>
              <a:t>LineSignal detects the slowdown automatically.</a:t>
            </a:r>
          </a:p>
        </p:txBody>
      </p:sp>
      <p:sp>
        <p:nvSpPr>
          <p:cNvPr id="12" name="Rounded Rectangle 11"/>
          <p:cNvSpPr/>
          <p:nvPr/>
        </p:nvSpPr>
        <p:spPr>
          <a:xfrm>
            <a:off x="2956560" y="2148840"/>
            <a:ext cx="213360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956560" y="2148840"/>
            <a:ext cx="2133600" cy="82296"/>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30880" y="2468880"/>
            <a:ext cx="1584960" cy="457200"/>
          </a:xfrm>
          <a:prstGeom prst="rect">
            <a:avLst/>
          </a:prstGeom>
          <a:noFill/>
        </p:spPr>
        <p:txBody>
          <a:bodyPr wrap="square" lIns="0" rIns="0" anchor="t">
            <a:spAutoFit/>
          </a:bodyPr>
          <a:lstStyle/>
          <a:p>
            <a:pPr algn="l">
              <a:spcAft>
                <a:spcPts val="839"/>
              </a:spcAft>
            </a:pPr>
            <a:r>
              <a:rPr sz="2400" b="1">
                <a:solidFill>
                  <a:srgbClr val="2DD4BF"/>
                </a:solidFill>
                <a:latin typeface="Helvetica Neue"/>
              </a:rPr>
              <a:t>9:00 AM</a:t>
            </a:r>
          </a:p>
        </p:txBody>
      </p:sp>
      <p:sp>
        <p:nvSpPr>
          <p:cNvPr id="15" name="TextBox 14"/>
          <p:cNvSpPr txBox="1"/>
          <p:nvPr/>
        </p:nvSpPr>
        <p:spPr>
          <a:xfrm>
            <a:off x="3230880" y="3017520"/>
            <a:ext cx="1584960" cy="457200"/>
          </a:xfrm>
          <a:prstGeom prst="rect">
            <a:avLst/>
          </a:prstGeom>
          <a:noFill/>
        </p:spPr>
        <p:txBody>
          <a:bodyPr wrap="square" lIns="0" rIns="0" anchor="t">
            <a:spAutoFit/>
          </a:bodyPr>
          <a:lstStyle/>
          <a:p>
            <a:pPr algn="l">
              <a:spcAft>
                <a:spcPts val="455"/>
              </a:spcAft>
            </a:pPr>
            <a:r>
              <a:rPr sz="1300" b="1">
                <a:solidFill>
                  <a:srgbClr val="94A3B8"/>
                </a:solidFill>
                <a:latin typeface="Helvetica Neue"/>
              </a:rPr>
              <a:t>EXPLAINED</a:t>
            </a:r>
          </a:p>
        </p:txBody>
      </p:sp>
      <p:sp>
        <p:nvSpPr>
          <p:cNvPr id="16" name="TextBox 15"/>
          <p:cNvSpPr txBox="1"/>
          <p:nvPr/>
        </p:nvSpPr>
        <p:spPr>
          <a:xfrm>
            <a:off x="3230880" y="3474720"/>
            <a:ext cx="1584960" cy="1645920"/>
          </a:xfrm>
          <a:prstGeom prst="rect">
            <a:avLst/>
          </a:prstGeom>
          <a:noFill/>
        </p:spPr>
        <p:txBody>
          <a:bodyPr wrap="square" lIns="0" rIns="0" anchor="t">
            <a:spAutoFit/>
          </a:bodyPr>
          <a:lstStyle/>
          <a:p>
            <a:pPr algn="l">
              <a:spcAft>
                <a:spcPts val="594"/>
              </a:spcAft>
            </a:pPr>
            <a:r>
              <a:rPr sz="1700" b="0">
                <a:solidFill>
                  <a:srgbClr val="FFFFFF"/>
                </a:solidFill>
                <a:latin typeface="Helvetica Neue"/>
              </a:rPr>
              <a:t>“It’s Wi-Fi hotspot 7, not the robot.” In plain English.</a:t>
            </a:r>
          </a:p>
        </p:txBody>
      </p:sp>
      <p:sp>
        <p:nvSpPr>
          <p:cNvPr id="17" name="Rounded Rectangle 16"/>
          <p:cNvSpPr/>
          <p:nvPr/>
        </p:nvSpPr>
        <p:spPr>
          <a:xfrm>
            <a:off x="5364480" y="2148840"/>
            <a:ext cx="213360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64480" y="2148840"/>
            <a:ext cx="2133600" cy="82296"/>
          </a:xfrm>
          <a:prstGeom prst="rect">
            <a:avLst/>
          </a:prstGeom>
          <a:solidFill>
            <a:srgbClr val="4ADE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38800" y="2468880"/>
            <a:ext cx="1584960" cy="457200"/>
          </a:xfrm>
          <a:prstGeom prst="rect">
            <a:avLst/>
          </a:prstGeom>
          <a:noFill/>
        </p:spPr>
        <p:txBody>
          <a:bodyPr wrap="square" lIns="0" rIns="0" anchor="t">
            <a:spAutoFit/>
          </a:bodyPr>
          <a:lstStyle/>
          <a:p>
            <a:pPr algn="l">
              <a:spcAft>
                <a:spcPts val="839"/>
              </a:spcAft>
            </a:pPr>
            <a:r>
              <a:rPr sz="2400" b="1">
                <a:solidFill>
                  <a:srgbClr val="4ADE80"/>
                </a:solidFill>
                <a:latin typeface="Helvetica Neue"/>
              </a:rPr>
              <a:t>9:01 AM</a:t>
            </a:r>
          </a:p>
        </p:txBody>
      </p:sp>
      <p:sp>
        <p:nvSpPr>
          <p:cNvPr id="20" name="TextBox 19"/>
          <p:cNvSpPr txBox="1"/>
          <p:nvPr/>
        </p:nvSpPr>
        <p:spPr>
          <a:xfrm>
            <a:off x="5638800" y="3017520"/>
            <a:ext cx="1584960" cy="457200"/>
          </a:xfrm>
          <a:prstGeom prst="rect">
            <a:avLst/>
          </a:prstGeom>
          <a:noFill/>
        </p:spPr>
        <p:txBody>
          <a:bodyPr wrap="square" lIns="0" rIns="0" anchor="t">
            <a:spAutoFit/>
          </a:bodyPr>
          <a:lstStyle/>
          <a:p>
            <a:pPr algn="l">
              <a:spcAft>
                <a:spcPts val="455"/>
              </a:spcAft>
            </a:pPr>
            <a:r>
              <a:rPr sz="1300" b="1">
                <a:solidFill>
                  <a:srgbClr val="94A3B8"/>
                </a:solidFill>
                <a:latin typeface="Helvetica Neue"/>
              </a:rPr>
              <a:t>FIXED &amp; PROVEN</a:t>
            </a:r>
          </a:p>
        </p:txBody>
      </p:sp>
      <p:sp>
        <p:nvSpPr>
          <p:cNvPr id="21" name="TextBox 20"/>
          <p:cNvSpPr txBox="1"/>
          <p:nvPr/>
        </p:nvSpPr>
        <p:spPr>
          <a:xfrm>
            <a:off x="5638800" y="3474720"/>
            <a:ext cx="1584960" cy="1645920"/>
          </a:xfrm>
          <a:prstGeom prst="rect">
            <a:avLst/>
          </a:prstGeom>
          <a:noFill/>
        </p:spPr>
        <p:txBody>
          <a:bodyPr wrap="square" lIns="0" rIns="0" anchor="t">
            <a:spAutoFit/>
          </a:bodyPr>
          <a:lstStyle/>
          <a:p>
            <a:pPr algn="l">
              <a:spcAft>
                <a:spcPts val="594"/>
              </a:spcAft>
            </a:pPr>
            <a:r>
              <a:rPr sz="1700" b="0">
                <a:solidFill>
                  <a:srgbClr val="FFFFFF"/>
                </a:solidFill>
                <a:latin typeface="Helvetica Neue"/>
              </a:rPr>
              <a:t>A manager approves the fix. The data confirms full speed.</a:t>
            </a:r>
          </a:p>
        </p:txBody>
      </p:sp>
      <p:sp>
        <p:nvSpPr>
          <p:cNvPr id="22" name="Rounded Rectangle 21"/>
          <p:cNvSpPr/>
          <p:nvPr/>
        </p:nvSpPr>
        <p:spPr>
          <a:xfrm>
            <a:off x="7818120" y="2148840"/>
            <a:ext cx="3822191" cy="146304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38160" y="2350008"/>
            <a:ext cx="3182111" cy="914400"/>
          </a:xfrm>
          <a:prstGeom prst="rect">
            <a:avLst/>
          </a:prstGeom>
          <a:noFill/>
        </p:spPr>
        <p:txBody>
          <a:bodyPr wrap="square" lIns="0" rIns="0" anchor="t">
            <a:spAutoFit/>
          </a:bodyPr>
          <a:lstStyle/>
          <a:p>
            <a:pPr algn="l">
              <a:spcAft>
                <a:spcPts val="1400"/>
              </a:spcAft>
            </a:pPr>
            <a:r>
              <a:rPr sz="4000" b="1">
                <a:solidFill>
                  <a:srgbClr val="2DD4BF"/>
                </a:solidFill>
                <a:latin typeface="Helvetica Neue"/>
              </a:rPr>
              <a:t>4.7M</a:t>
            </a:r>
          </a:p>
        </p:txBody>
      </p:sp>
      <p:sp>
        <p:nvSpPr>
          <p:cNvPr id="24" name="TextBox 23"/>
          <p:cNvSpPr txBox="1"/>
          <p:nvPr/>
        </p:nvSpPr>
        <p:spPr>
          <a:xfrm>
            <a:off x="8138160" y="3010408"/>
            <a:ext cx="3182111"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robots working in factories today, +9% a year</a:t>
            </a:r>
          </a:p>
        </p:txBody>
      </p:sp>
      <p:sp>
        <p:nvSpPr>
          <p:cNvPr id="25" name="Rounded Rectangle 24"/>
          <p:cNvSpPr/>
          <p:nvPr/>
        </p:nvSpPr>
        <p:spPr>
          <a:xfrm>
            <a:off x="7818120" y="3703320"/>
            <a:ext cx="3822191" cy="146304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0" y="3904488"/>
            <a:ext cx="3182111" cy="914400"/>
          </a:xfrm>
          <a:prstGeom prst="rect">
            <a:avLst/>
          </a:prstGeom>
          <a:noFill/>
        </p:spPr>
        <p:txBody>
          <a:bodyPr wrap="square" lIns="0" rIns="0" anchor="t">
            <a:spAutoFit/>
          </a:bodyPr>
          <a:lstStyle/>
          <a:p>
            <a:pPr algn="l">
              <a:spcAft>
                <a:spcPts val="1400"/>
              </a:spcAft>
            </a:pPr>
            <a:r>
              <a:rPr sz="4000" b="1">
                <a:solidFill>
                  <a:srgbClr val="2DD4BF"/>
                </a:solidFill>
                <a:latin typeface="Helvetica Neue"/>
              </a:rPr>
              <a:t>6M / yr</a:t>
            </a:r>
          </a:p>
        </p:txBody>
      </p:sp>
      <p:sp>
        <p:nvSpPr>
          <p:cNvPr id="27" name="TextBox 26"/>
          <p:cNvSpPr txBox="1"/>
          <p:nvPr/>
        </p:nvSpPr>
        <p:spPr>
          <a:xfrm>
            <a:off x="8138160" y="4564888"/>
            <a:ext cx="3182111"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mobile robots shipping by 2030. All on wireless.</a:t>
            </a:r>
          </a:p>
        </p:txBody>
      </p:sp>
      <p:sp>
        <p:nvSpPr>
          <p:cNvPr id="28" name="Rounded Rectangle 27"/>
          <p:cNvSpPr/>
          <p:nvPr/>
        </p:nvSpPr>
        <p:spPr>
          <a:xfrm>
            <a:off x="548640" y="5532120"/>
            <a:ext cx="11091672" cy="685800"/>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532120"/>
            <a:ext cx="10607040" cy="685800"/>
          </a:xfrm>
          <a:prstGeom prst="rect">
            <a:avLst/>
          </a:prstGeom>
          <a:noFill/>
        </p:spPr>
        <p:txBody>
          <a:bodyPr wrap="square" lIns="0" rIns="0" anchor="ctr">
            <a:spAutoFit/>
          </a:bodyPr>
          <a:lstStyle/>
          <a:p>
            <a:pPr algn="l">
              <a:spcAft>
                <a:spcPts val="665"/>
              </a:spcAft>
            </a:pPr>
            <a:r>
              <a:rPr sz="1900" b="1">
                <a:solidFill>
                  <a:srgbClr val="FFFFFF"/>
                </a:solidFill>
                <a:latin typeface="Helvetica Neue"/>
              </a:rPr>
              <a:t>Data centers power AI’s brain. Wireless networks power its hands. LineSignal keeps them working.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DEMO</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Watch Robot A12 get diagnosed live.</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4/8</a:t>
            </a:r>
          </a:p>
        </p:txBody>
      </p:sp>
      <p:sp>
        <p:nvSpPr>
          <p:cNvPr id="6" name="Rounded Rectangle 5"/>
          <p:cNvSpPr/>
          <p:nvPr/>
        </p:nvSpPr>
        <p:spPr>
          <a:xfrm>
            <a:off x="548640" y="2011680"/>
            <a:ext cx="7498079" cy="4023360"/>
          </a:xfrm>
          <a:prstGeom prst="roundRect">
            <a:avLst>
              <a:gd name="adj" fmla="val 8000"/>
            </a:avLst>
          </a:prstGeom>
          <a:solidFill>
            <a:srgbClr val="141E33"/>
          </a:solidFill>
          <a:ln w="15875">
            <a:solidFill>
              <a:srgbClr val="2633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Isosceles Triangle 6"/>
          <p:cNvSpPr/>
          <p:nvPr/>
        </p:nvSpPr>
        <p:spPr>
          <a:xfrm rot="5400000">
            <a:off x="3977639" y="3474720"/>
            <a:ext cx="822960" cy="822960"/>
          </a:xfrm>
          <a:prstGeom prst="triangl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4480560"/>
            <a:ext cx="7498079" cy="457200"/>
          </a:xfrm>
          <a:prstGeom prst="rect">
            <a:avLst/>
          </a:prstGeom>
          <a:noFill/>
        </p:spPr>
        <p:txBody>
          <a:bodyPr wrap="square" lIns="0" rIns="0" anchor="t">
            <a:spAutoFit/>
          </a:bodyPr>
          <a:lstStyle/>
          <a:p>
            <a:pPr algn="ctr">
              <a:spcAft>
                <a:spcPts val="489"/>
              </a:spcAft>
            </a:pPr>
            <a:r>
              <a:rPr sz="1400" b="0">
                <a:solidFill>
                  <a:srgbClr val="94A3B8"/>
                </a:solidFill>
                <a:latin typeface="Helvetica Neue"/>
              </a:rPr>
              <a:t>Insert demo video here</a:t>
            </a:r>
          </a:p>
        </p:txBody>
      </p:sp>
      <p:sp>
        <p:nvSpPr>
          <p:cNvPr id="9" name="Oval 8"/>
          <p:cNvSpPr/>
          <p:nvPr/>
        </p:nvSpPr>
        <p:spPr>
          <a:xfrm>
            <a:off x="8412480" y="2103120"/>
            <a:ext cx="457200" cy="457200"/>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2103120"/>
            <a:ext cx="457200" cy="457200"/>
          </a:xfrm>
          <a:prstGeom prst="rect">
            <a:avLst/>
          </a:prstGeom>
          <a:noFill/>
        </p:spPr>
        <p:txBody>
          <a:bodyPr wrap="square" lIns="0" rIns="0" anchor="ctr">
            <a:spAutoFit/>
          </a:bodyPr>
          <a:lstStyle/>
          <a:p>
            <a:pPr algn="ctr">
              <a:spcAft>
                <a:spcPts val="560"/>
              </a:spcAft>
            </a:pPr>
            <a:r>
              <a:rPr sz="1600" b="1">
                <a:solidFill>
                  <a:srgbClr val="0B1220"/>
                </a:solidFill>
                <a:latin typeface="Helvetica Neue"/>
              </a:rPr>
              <a:t>1</a:t>
            </a:r>
          </a:p>
        </p:txBody>
      </p:sp>
      <p:sp>
        <p:nvSpPr>
          <p:cNvPr id="11" name="TextBox 10"/>
          <p:cNvSpPr txBox="1"/>
          <p:nvPr/>
        </p:nvSpPr>
        <p:spPr>
          <a:xfrm>
            <a:off x="9052560" y="2103120"/>
            <a:ext cx="2651760" cy="731520"/>
          </a:xfrm>
          <a:prstGeom prst="rect">
            <a:avLst/>
          </a:prstGeom>
          <a:noFill/>
        </p:spPr>
        <p:txBody>
          <a:bodyPr wrap="square" lIns="0" rIns="0" anchor="t">
            <a:spAutoFit/>
          </a:bodyPr>
          <a:lstStyle/>
          <a:p>
            <a:pPr algn="l">
              <a:spcAft>
                <a:spcPts val="525"/>
              </a:spcAft>
            </a:pPr>
            <a:r>
              <a:rPr sz="1500" b="0">
                <a:solidFill>
                  <a:srgbClr val="FFFFFF"/>
                </a:solidFill>
                <a:latin typeface="Helvetica Neue"/>
              </a:rPr>
              <a:t>The robot pauses and the line slows.</a:t>
            </a:r>
          </a:p>
        </p:txBody>
      </p:sp>
      <p:sp>
        <p:nvSpPr>
          <p:cNvPr id="12" name="Oval 11"/>
          <p:cNvSpPr/>
          <p:nvPr/>
        </p:nvSpPr>
        <p:spPr>
          <a:xfrm>
            <a:off x="8412480" y="2907792"/>
            <a:ext cx="457200" cy="457200"/>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2907792"/>
            <a:ext cx="457200" cy="457200"/>
          </a:xfrm>
          <a:prstGeom prst="rect">
            <a:avLst/>
          </a:prstGeom>
          <a:noFill/>
        </p:spPr>
        <p:txBody>
          <a:bodyPr wrap="square" lIns="0" rIns="0" anchor="ctr">
            <a:spAutoFit/>
          </a:bodyPr>
          <a:lstStyle/>
          <a:p>
            <a:pPr algn="ctr">
              <a:spcAft>
                <a:spcPts val="560"/>
              </a:spcAft>
            </a:pPr>
            <a:r>
              <a:rPr sz="1600" b="1">
                <a:solidFill>
                  <a:srgbClr val="0B1220"/>
                </a:solidFill>
                <a:latin typeface="Helvetica Neue"/>
              </a:rPr>
              <a:t>2</a:t>
            </a:r>
          </a:p>
        </p:txBody>
      </p:sp>
      <p:sp>
        <p:nvSpPr>
          <p:cNvPr id="14" name="TextBox 13"/>
          <p:cNvSpPr txBox="1"/>
          <p:nvPr/>
        </p:nvSpPr>
        <p:spPr>
          <a:xfrm>
            <a:off x="9052560" y="2907792"/>
            <a:ext cx="2651760" cy="731520"/>
          </a:xfrm>
          <a:prstGeom prst="rect">
            <a:avLst/>
          </a:prstGeom>
          <a:noFill/>
        </p:spPr>
        <p:txBody>
          <a:bodyPr wrap="square" lIns="0" rIns="0" anchor="t">
            <a:spAutoFit/>
          </a:bodyPr>
          <a:lstStyle/>
          <a:p>
            <a:pPr algn="l">
              <a:spcAft>
                <a:spcPts val="525"/>
              </a:spcAft>
            </a:pPr>
            <a:r>
              <a:rPr sz="1500" b="0">
                <a:solidFill>
                  <a:srgbClr val="FFFFFF"/>
                </a:solidFill>
                <a:latin typeface="Helvetica Neue"/>
              </a:rPr>
              <a:t>LineSignal names the cause automatically.</a:t>
            </a:r>
          </a:p>
        </p:txBody>
      </p:sp>
      <p:sp>
        <p:nvSpPr>
          <p:cNvPr id="15" name="Oval 14"/>
          <p:cNvSpPr/>
          <p:nvPr/>
        </p:nvSpPr>
        <p:spPr>
          <a:xfrm>
            <a:off x="8412480" y="3712464"/>
            <a:ext cx="457200" cy="457200"/>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80" y="3712464"/>
            <a:ext cx="457200" cy="457200"/>
          </a:xfrm>
          <a:prstGeom prst="rect">
            <a:avLst/>
          </a:prstGeom>
          <a:noFill/>
        </p:spPr>
        <p:txBody>
          <a:bodyPr wrap="square" lIns="0" rIns="0" anchor="ctr">
            <a:spAutoFit/>
          </a:bodyPr>
          <a:lstStyle/>
          <a:p>
            <a:pPr algn="ctr">
              <a:spcAft>
                <a:spcPts val="560"/>
              </a:spcAft>
            </a:pPr>
            <a:r>
              <a:rPr sz="1600" b="1">
                <a:solidFill>
                  <a:srgbClr val="0B1220"/>
                </a:solidFill>
                <a:latin typeface="Helvetica Neue"/>
              </a:rPr>
              <a:t>3</a:t>
            </a:r>
          </a:p>
        </p:txBody>
      </p:sp>
      <p:sp>
        <p:nvSpPr>
          <p:cNvPr id="17" name="TextBox 16"/>
          <p:cNvSpPr txBox="1"/>
          <p:nvPr/>
        </p:nvSpPr>
        <p:spPr>
          <a:xfrm>
            <a:off x="9052560" y="3712464"/>
            <a:ext cx="2651760" cy="731520"/>
          </a:xfrm>
          <a:prstGeom prst="rect">
            <a:avLst/>
          </a:prstGeom>
          <a:noFill/>
        </p:spPr>
        <p:txBody>
          <a:bodyPr wrap="square" lIns="0" rIns="0" anchor="t">
            <a:spAutoFit/>
          </a:bodyPr>
          <a:lstStyle/>
          <a:p>
            <a:pPr algn="l">
              <a:spcAft>
                <a:spcPts val="525"/>
              </a:spcAft>
            </a:pPr>
            <a:r>
              <a:rPr sz="1500" b="0">
                <a:solidFill>
                  <a:srgbClr val="FFFFFF"/>
                </a:solidFill>
                <a:latin typeface="Helvetica Neue"/>
              </a:rPr>
              <a:t>A manager approves the fix.</a:t>
            </a:r>
          </a:p>
        </p:txBody>
      </p:sp>
      <p:sp>
        <p:nvSpPr>
          <p:cNvPr id="18" name="Oval 17"/>
          <p:cNvSpPr/>
          <p:nvPr/>
        </p:nvSpPr>
        <p:spPr>
          <a:xfrm>
            <a:off x="8412480" y="4517136"/>
            <a:ext cx="457200" cy="457200"/>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4517136"/>
            <a:ext cx="457200" cy="457200"/>
          </a:xfrm>
          <a:prstGeom prst="rect">
            <a:avLst/>
          </a:prstGeom>
          <a:noFill/>
        </p:spPr>
        <p:txBody>
          <a:bodyPr wrap="square" lIns="0" rIns="0" anchor="ctr">
            <a:spAutoFit/>
          </a:bodyPr>
          <a:lstStyle/>
          <a:p>
            <a:pPr algn="ctr">
              <a:spcAft>
                <a:spcPts val="560"/>
              </a:spcAft>
            </a:pPr>
            <a:r>
              <a:rPr sz="1600" b="1">
                <a:solidFill>
                  <a:srgbClr val="0B1220"/>
                </a:solidFill>
                <a:latin typeface="Helvetica Neue"/>
              </a:rPr>
              <a:t>4</a:t>
            </a:r>
          </a:p>
        </p:txBody>
      </p:sp>
      <p:sp>
        <p:nvSpPr>
          <p:cNvPr id="20" name="TextBox 19"/>
          <p:cNvSpPr txBox="1"/>
          <p:nvPr/>
        </p:nvSpPr>
        <p:spPr>
          <a:xfrm>
            <a:off x="9052560" y="4517136"/>
            <a:ext cx="2651760" cy="731520"/>
          </a:xfrm>
          <a:prstGeom prst="rect">
            <a:avLst/>
          </a:prstGeom>
          <a:noFill/>
        </p:spPr>
        <p:txBody>
          <a:bodyPr wrap="square" lIns="0" rIns="0" anchor="t">
            <a:spAutoFit/>
          </a:bodyPr>
          <a:lstStyle/>
          <a:p>
            <a:pPr algn="l">
              <a:spcAft>
                <a:spcPts val="525"/>
              </a:spcAft>
            </a:pPr>
            <a:r>
              <a:rPr sz="1500" b="0">
                <a:solidFill>
                  <a:srgbClr val="FFFFFF"/>
                </a:solidFill>
                <a:latin typeface="Helvetica Neue"/>
              </a:rPr>
              <a:t>The data proves the line recovered.</a:t>
            </a:r>
          </a:p>
        </p:txBody>
      </p:sp>
      <p:sp>
        <p:nvSpPr>
          <p:cNvPr id="21" name="Oval 20"/>
          <p:cNvSpPr/>
          <p:nvPr/>
        </p:nvSpPr>
        <p:spPr>
          <a:xfrm>
            <a:off x="8412480" y="5321808"/>
            <a:ext cx="457200" cy="457200"/>
          </a:xfrm>
          <a:prstGeom prst="ellipse">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5321808"/>
            <a:ext cx="457200" cy="457200"/>
          </a:xfrm>
          <a:prstGeom prst="rect">
            <a:avLst/>
          </a:prstGeom>
          <a:noFill/>
        </p:spPr>
        <p:txBody>
          <a:bodyPr wrap="square" lIns="0" rIns="0" anchor="ctr">
            <a:spAutoFit/>
          </a:bodyPr>
          <a:lstStyle/>
          <a:p>
            <a:pPr algn="ctr">
              <a:spcAft>
                <a:spcPts val="560"/>
              </a:spcAft>
            </a:pPr>
            <a:r>
              <a:rPr sz="1600" b="1">
                <a:solidFill>
                  <a:srgbClr val="0B1220"/>
                </a:solidFill>
                <a:latin typeface="Helvetica Neue"/>
              </a:rPr>
              <a:t>5</a:t>
            </a:r>
          </a:p>
        </p:txBody>
      </p:sp>
      <p:sp>
        <p:nvSpPr>
          <p:cNvPr id="23" name="TextBox 22"/>
          <p:cNvSpPr txBox="1"/>
          <p:nvPr/>
        </p:nvSpPr>
        <p:spPr>
          <a:xfrm>
            <a:off x="9052560" y="5321808"/>
            <a:ext cx="2651760" cy="731520"/>
          </a:xfrm>
          <a:prstGeom prst="rect">
            <a:avLst/>
          </a:prstGeom>
          <a:noFill/>
        </p:spPr>
        <p:txBody>
          <a:bodyPr wrap="square" lIns="0" rIns="0" anchor="t">
            <a:spAutoFit/>
          </a:bodyPr>
          <a:lstStyle/>
          <a:p>
            <a:pPr algn="l">
              <a:spcAft>
                <a:spcPts val="525"/>
              </a:spcAft>
            </a:pPr>
            <a:r>
              <a:rPr sz="1500" b="0">
                <a:solidFill>
                  <a:srgbClr val="FFFFFF"/>
                </a:solidFill>
                <a:latin typeface="Helvetica Neue"/>
              </a:rPr>
              <a:t>A robot fault: it doesn’t always blame the Wi-Fi.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WHY NOW</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Robot fleets are going wireless, fast.</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5/8</a:t>
            </a:r>
          </a:p>
        </p:txBody>
      </p:sp>
      <p:sp>
        <p:nvSpPr>
          <p:cNvPr id="6" name="TextBox 5"/>
          <p:cNvSpPr txBox="1"/>
          <p:nvPr/>
        </p:nvSpPr>
        <p:spPr>
          <a:xfrm>
            <a:off x="548640" y="6400800"/>
            <a:ext cx="9509760" cy="274320"/>
          </a:xfrm>
          <a:prstGeom prst="rect">
            <a:avLst/>
          </a:prstGeom>
          <a:noFill/>
        </p:spPr>
        <p:txBody>
          <a:bodyPr wrap="square" lIns="0" rIns="0" anchor="t">
            <a:spAutoFit/>
          </a:bodyPr>
          <a:lstStyle/>
          <a:p>
            <a:pPr algn="l">
              <a:spcAft>
                <a:spcPts val="315"/>
              </a:spcAft>
            </a:pPr>
            <a:r>
              <a:rPr sz="900" b="0">
                <a:solidFill>
                  <a:srgbClr val="94A3B8"/>
                </a:solidFill>
                <a:latin typeface="Helvetica Neue"/>
              </a:rPr>
              <a:t>Sources: IFR World Robotics 2025; Mordor Intelligence, Private Networks for Smart Manufacturing (2026–2031).</a:t>
            </a:r>
          </a:p>
        </p:txBody>
      </p:sp>
      <p:sp>
        <p:nvSpPr>
          <p:cNvPr id="7" name="Rounded Rectangle 6"/>
          <p:cNvSpPr/>
          <p:nvPr/>
        </p:nvSpPr>
        <p:spPr>
          <a:xfrm>
            <a:off x="548640" y="2148840"/>
            <a:ext cx="352044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50008"/>
            <a:ext cx="2880360" cy="914400"/>
          </a:xfrm>
          <a:prstGeom prst="rect">
            <a:avLst/>
          </a:prstGeom>
          <a:noFill/>
        </p:spPr>
        <p:txBody>
          <a:bodyPr wrap="square" lIns="0" rIns="0" anchor="t">
            <a:spAutoFit/>
          </a:bodyPr>
          <a:lstStyle/>
          <a:p>
            <a:pPr algn="l">
              <a:spcAft>
                <a:spcPts val="1539"/>
              </a:spcAft>
            </a:pPr>
            <a:r>
              <a:rPr sz="4400" b="1">
                <a:solidFill>
                  <a:srgbClr val="2DD4BF"/>
                </a:solidFill>
                <a:latin typeface="Helvetica Neue"/>
              </a:rPr>
              <a:t>+9% / yr</a:t>
            </a:r>
          </a:p>
        </p:txBody>
      </p:sp>
      <p:sp>
        <p:nvSpPr>
          <p:cNvPr id="9" name="TextBox 8"/>
          <p:cNvSpPr txBox="1"/>
          <p:nvPr/>
        </p:nvSpPr>
        <p:spPr>
          <a:xfrm>
            <a:off x="868680" y="3076448"/>
            <a:ext cx="2880360"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Factory robot fleets keep growing: 4.7M robots in operation.</a:t>
            </a:r>
          </a:p>
        </p:txBody>
      </p:sp>
      <p:sp>
        <p:nvSpPr>
          <p:cNvPr id="10" name="Rounded Rectangle 9"/>
          <p:cNvSpPr/>
          <p:nvPr/>
        </p:nvSpPr>
        <p:spPr>
          <a:xfrm>
            <a:off x="4334255" y="2148840"/>
            <a:ext cx="352044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54295" y="2350008"/>
            <a:ext cx="2880360" cy="914400"/>
          </a:xfrm>
          <a:prstGeom prst="rect">
            <a:avLst/>
          </a:prstGeom>
          <a:noFill/>
        </p:spPr>
        <p:txBody>
          <a:bodyPr wrap="square" lIns="0" rIns="0" anchor="t">
            <a:spAutoFit/>
          </a:bodyPr>
          <a:lstStyle/>
          <a:p>
            <a:pPr algn="l">
              <a:spcAft>
                <a:spcPts val="1539"/>
              </a:spcAft>
            </a:pPr>
            <a:r>
              <a:rPr sz="4400" b="1">
                <a:solidFill>
                  <a:srgbClr val="2DD4BF"/>
                </a:solidFill>
                <a:latin typeface="Helvetica Neue"/>
              </a:rPr>
              <a:t>+44% / yr</a:t>
            </a:r>
          </a:p>
        </p:txBody>
      </p:sp>
      <p:sp>
        <p:nvSpPr>
          <p:cNvPr id="12" name="TextBox 11"/>
          <p:cNvSpPr txBox="1"/>
          <p:nvPr/>
        </p:nvSpPr>
        <p:spPr>
          <a:xfrm>
            <a:off x="4654295" y="3076448"/>
            <a:ext cx="2880360"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Private factory wireless: $1.4B in 2026 to $8.5B by 2031.</a:t>
            </a:r>
          </a:p>
        </p:txBody>
      </p:sp>
      <p:sp>
        <p:nvSpPr>
          <p:cNvPr id="13" name="Rounded Rectangle 12"/>
          <p:cNvSpPr/>
          <p:nvPr/>
        </p:nvSpPr>
        <p:spPr>
          <a:xfrm>
            <a:off x="8119870" y="2148840"/>
            <a:ext cx="3520440" cy="301752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39910" y="2350008"/>
            <a:ext cx="2880360" cy="914400"/>
          </a:xfrm>
          <a:prstGeom prst="rect">
            <a:avLst/>
          </a:prstGeom>
          <a:noFill/>
        </p:spPr>
        <p:txBody>
          <a:bodyPr wrap="square" lIns="0" rIns="0" anchor="t">
            <a:spAutoFit/>
          </a:bodyPr>
          <a:lstStyle/>
          <a:p>
            <a:pPr algn="l">
              <a:spcAft>
                <a:spcPts val="1539"/>
              </a:spcAft>
            </a:pPr>
            <a:r>
              <a:rPr sz="4400" b="1">
                <a:solidFill>
                  <a:srgbClr val="2DD4BF"/>
                </a:solidFill>
                <a:latin typeface="Helvetica Neue"/>
              </a:rPr>
              <a:t>Seconds</a:t>
            </a:r>
          </a:p>
        </p:txBody>
      </p:sp>
      <p:sp>
        <p:nvSpPr>
          <p:cNvPr id="15" name="TextBox 14"/>
          <p:cNvSpPr txBox="1"/>
          <p:nvPr/>
        </p:nvSpPr>
        <p:spPr>
          <a:xfrm>
            <a:off x="8439910" y="3076448"/>
            <a:ext cx="2880360" cy="731520"/>
          </a:xfrm>
          <a:prstGeom prst="rect">
            <a:avLst/>
          </a:prstGeom>
          <a:noFill/>
        </p:spPr>
        <p:txBody>
          <a:bodyPr wrap="square" lIns="0" rIns="0" anchor="t">
            <a:spAutoFit/>
          </a:bodyPr>
          <a:lstStyle/>
          <a:p>
            <a:pPr algn="l">
              <a:spcAft>
                <a:spcPts val="489"/>
              </a:spcAft>
            </a:pPr>
            <a:r>
              <a:rPr sz="1400" b="0">
                <a:solidFill>
                  <a:srgbClr val="94A3B8"/>
                </a:solidFill>
                <a:latin typeface="Helvetica Neue"/>
              </a:rPr>
              <a:t>AI can now explain a fault in plain English, with safety checks.</a:t>
            </a:r>
          </a:p>
        </p:txBody>
      </p:sp>
      <p:sp>
        <p:nvSpPr>
          <p:cNvPr id="16" name="Rounded Rectangle 15"/>
          <p:cNvSpPr/>
          <p:nvPr/>
        </p:nvSpPr>
        <p:spPr>
          <a:xfrm>
            <a:off x="548640" y="5532120"/>
            <a:ext cx="11091672" cy="685800"/>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5532120"/>
            <a:ext cx="10607040" cy="685800"/>
          </a:xfrm>
          <a:prstGeom prst="rect">
            <a:avLst/>
          </a:prstGeom>
          <a:noFill/>
        </p:spPr>
        <p:txBody>
          <a:bodyPr wrap="square" lIns="0" rIns="0" anchor="ctr">
            <a:spAutoFit/>
          </a:bodyPr>
          <a:lstStyle/>
          <a:p>
            <a:pPr algn="l">
              <a:spcAft>
                <a:spcPts val="665"/>
              </a:spcAft>
            </a:pPr>
            <a:r>
              <a:rPr sz="1900" b="1">
                <a:solidFill>
                  <a:srgbClr val="FFFFFF"/>
                </a:solidFill>
                <a:latin typeface="Helvetica Neue"/>
              </a:rPr>
              <a:t>The robots are arriving. The network under them is still a blind spot.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CUSTOMER</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Built for the people who pay for downtime.</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6/8</a:t>
            </a:r>
          </a:p>
        </p:txBody>
      </p:sp>
      <p:sp>
        <p:nvSpPr>
          <p:cNvPr id="6" name="Rounded Rectangle 5"/>
          <p:cNvSpPr/>
          <p:nvPr/>
        </p:nvSpPr>
        <p:spPr>
          <a:xfrm>
            <a:off x="548640" y="2148840"/>
            <a:ext cx="3520440" cy="274320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423160"/>
            <a:ext cx="292608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BUYER</a:t>
            </a:r>
          </a:p>
        </p:txBody>
      </p:sp>
      <p:sp>
        <p:nvSpPr>
          <p:cNvPr id="8" name="TextBox 7"/>
          <p:cNvSpPr txBox="1"/>
          <p:nvPr/>
        </p:nvSpPr>
        <p:spPr>
          <a:xfrm>
            <a:off x="868680" y="2834640"/>
            <a:ext cx="2926080" cy="1005840"/>
          </a:xfrm>
          <a:prstGeom prst="rect">
            <a:avLst/>
          </a:prstGeom>
          <a:noFill/>
        </p:spPr>
        <p:txBody>
          <a:bodyPr wrap="square" lIns="0" rIns="0" anchor="t">
            <a:spAutoFit/>
          </a:bodyPr>
          <a:lstStyle/>
          <a:p>
            <a:pPr algn="l">
              <a:spcAft>
                <a:spcPts val="769"/>
              </a:spcAft>
            </a:pPr>
            <a:r>
              <a:rPr sz="2200" b="1">
                <a:solidFill>
                  <a:srgbClr val="FFFFFF"/>
                </a:solidFill>
                <a:latin typeface="Helvetica Neue"/>
              </a:rPr>
              <a:t>VP of Operations / Plant Manager</a:t>
            </a:r>
          </a:p>
        </p:txBody>
      </p:sp>
      <p:sp>
        <p:nvSpPr>
          <p:cNvPr id="9" name="TextBox 8"/>
          <p:cNvSpPr txBox="1"/>
          <p:nvPr/>
        </p:nvSpPr>
        <p:spPr>
          <a:xfrm>
            <a:off x="868680" y="3931920"/>
            <a:ext cx="2926080" cy="914400"/>
          </a:xfrm>
          <a:prstGeom prst="rect">
            <a:avLst/>
          </a:prstGeom>
          <a:noFill/>
        </p:spPr>
        <p:txBody>
          <a:bodyPr wrap="square" lIns="0" rIns="0" anchor="t">
            <a:spAutoFit/>
          </a:bodyPr>
          <a:lstStyle/>
          <a:p>
            <a:pPr algn="l">
              <a:spcAft>
                <a:spcPts val="560"/>
              </a:spcAft>
            </a:pPr>
            <a:r>
              <a:rPr sz="1600" b="0">
                <a:solidFill>
                  <a:srgbClr val="94A3B8"/>
                </a:solidFill>
                <a:latin typeface="Helvetica Neue"/>
              </a:rPr>
              <a:t>Owns output. Pays for every minute of downtime.</a:t>
            </a:r>
          </a:p>
        </p:txBody>
      </p:sp>
      <p:sp>
        <p:nvSpPr>
          <p:cNvPr id="10" name="Rounded Rectangle 9"/>
          <p:cNvSpPr/>
          <p:nvPr/>
        </p:nvSpPr>
        <p:spPr>
          <a:xfrm>
            <a:off x="4334255" y="2148840"/>
            <a:ext cx="3520440" cy="274320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54295" y="2423160"/>
            <a:ext cx="292608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DAILY USERS</a:t>
            </a:r>
          </a:p>
        </p:txBody>
      </p:sp>
      <p:sp>
        <p:nvSpPr>
          <p:cNvPr id="12" name="TextBox 11"/>
          <p:cNvSpPr txBox="1"/>
          <p:nvPr/>
        </p:nvSpPr>
        <p:spPr>
          <a:xfrm>
            <a:off x="4654295" y="2834640"/>
            <a:ext cx="2926080" cy="1005840"/>
          </a:xfrm>
          <a:prstGeom prst="rect">
            <a:avLst/>
          </a:prstGeom>
          <a:noFill/>
        </p:spPr>
        <p:txBody>
          <a:bodyPr wrap="square" lIns="0" rIns="0" anchor="t">
            <a:spAutoFit/>
          </a:bodyPr>
          <a:lstStyle/>
          <a:p>
            <a:pPr algn="l">
              <a:spcAft>
                <a:spcPts val="769"/>
              </a:spcAft>
            </a:pPr>
            <a:r>
              <a:rPr sz="2200" b="1">
                <a:solidFill>
                  <a:srgbClr val="FFFFFF"/>
                </a:solidFill>
                <a:latin typeface="Helvetica Neue"/>
              </a:rPr>
              <a:t>Robotics, network &amp; maintenance teams</a:t>
            </a:r>
          </a:p>
        </p:txBody>
      </p:sp>
      <p:sp>
        <p:nvSpPr>
          <p:cNvPr id="13" name="TextBox 12"/>
          <p:cNvSpPr txBox="1"/>
          <p:nvPr/>
        </p:nvSpPr>
        <p:spPr>
          <a:xfrm>
            <a:off x="4654295" y="3931920"/>
            <a:ext cx="2926080" cy="914400"/>
          </a:xfrm>
          <a:prstGeom prst="rect">
            <a:avLst/>
          </a:prstGeom>
          <a:noFill/>
        </p:spPr>
        <p:txBody>
          <a:bodyPr wrap="square" lIns="0" rIns="0" anchor="t">
            <a:spAutoFit/>
          </a:bodyPr>
          <a:lstStyle/>
          <a:p>
            <a:pPr algn="l">
              <a:spcAft>
                <a:spcPts val="560"/>
              </a:spcAft>
            </a:pPr>
            <a:r>
              <a:rPr sz="1600" b="0">
                <a:solidFill>
                  <a:srgbClr val="94A3B8"/>
                </a:solidFill>
                <a:latin typeface="Helvetica Neue"/>
              </a:rPr>
              <a:t>One shared answer instead of finger-pointing.</a:t>
            </a:r>
          </a:p>
        </p:txBody>
      </p:sp>
      <p:sp>
        <p:nvSpPr>
          <p:cNvPr id="14" name="Rounded Rectangle 13"/>
          <p:cNvSpPr/>
          <p:nvPr/>
        </p:nvSpPr>
        <p:spPr>
          <a:xfrm>
            <a:off x="8119870" y="2148840"/>
            <a:ext cx="3520440" cy="274320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39910" y="2423160"/>
            <a:ext cx="292608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FIRST MARKETS</a:t>
            </a:r>
          </a:p>
        </p:txBody>
      </p:sp>
      <p:sp>
        <p:nvSpPr>
          <p:cNvPr id="16" name="TextBox 15"/>
          <p:cNvSpPr txBox="1"/>
          <p:nvPr/>
        </p:nvSpPr>
        <p:spPr>
          <a:xfrm>
            <a:off x="8439910" y="2834640"/>
            <a:ext cx="2926080" cy="1005840"/>
          </a:xfrm>
          <a:prstGeom prst="rect">
            <a:avLst/>
          </a:prstGeom>
          <a:noFill/>
        </p:spPr>
        <p:txBody>
          <a:bodyPr wrap="square" lIns="0" rIns="0" anchor="t">
            <a:spAutoFit/>
          </a:bodyPr>
          <a:lstStyle/>
          <a:p>
            <a:pPr algn="l">
              <a:spcAft>
                <a:spcPts val="769"/>
              </a:spcAft>
            </a:pPr>
            <a:r>
              <a:rPr sz="2200" b="1">
                <a:solidFill>
                  <a:srgbClr val="FFFFFF"/>
                </a:solidFill>
                <a:latin typeface="Helvetica Neue"/>
              </a:rPr>
              <a:t>Car plants, warehouses, electronics</a:t>
            </a:r>
          </a:p>
        </p:txBody>
      </p:sp>
      <p:sp>
        <p:nvSpPr>
          <p:cNvPr id="17" name="TextBox 16"/>
          <p:cNvSpPr txBox="1"/>
          <p:nvPr/>
        </p:nvSpPr>
        <p:spPr>
          <a:xfrm>
            <a:off x="8439910" y="3931920"/>
            <a:ext cx="2926080" cy="914400"/>
          </a:xfrm>
          <a:prstGeom prst="rect">
            <a:avLst/>
          </a:prstGeom>
          <a:noFill/>
        </p:spPr>
        <p:txBody>
          <a:bodyPr wrap="square" lIns="0" rIns="0" anchor="t">
            <a:spAutoFit/>
          </a:bodyPr>
          <a:lstStyle/>
          <a:p>
            <a:pPr algn="l">
              <a:spcAft>
                <a:spcPts val="560"/>
              </a:spcAft>
            </a:pPr>
            <a:r>
              <a:rPr sz="1600" b="0">
                <a:solidFill>
                  <a:srgbClr val="94A3B8"/>
                </a:solidFill>
                <a:latin typeface="Helvetica Neue"/>
              </a:rPr>
              <a:t>Biggest robot fleets. Costliest downtime.</a:t>
            </a:r>
          </a:p>
        </p:txBody>
      </p:sp>
      <p:sp>
        <p:nvSpPr>
          <p:cNvPr id="18" name="TextBox 17"/>
          <p:cNvSpPr txBox="1"/>
          <p:nvPr/>
        </p:nvSpPr>
        <p:spPr>
          <a:xfrm>
            <a:off x="548640" y="5166360"/>
            <a:ext cx="11064240" cy="457200"/>
          </a:xfrm>
          <a:prstGeom prst="rect">
            <a:avLst/>
          </a:prstGeom>
          <a:noFill/>
        </p:spPr>
        <p:txBody>
          <a:bodyPr wrap="square" lIns="0" rIns="0" anchor="t">
            <a:spAutoFit/>
          </a:bodyPr>
          <a:lstStyle/>
          <a:p>
            <a:pPr algn="l">
              <a:spcAft>
                <a:spcPts val="630"/>
              </a:spcAft>
            </a:pPr>
            <a:r>
              <a:rPr sz="1800" b="1">
                <a:solidFill>
                  <a:srgbClr val="FFFFFF"/>
                </a:solidFill>
                <a:latin typeface="Helvetica Neue"/>
              </a:rPr>
              <a:t>Target operators:  Toyota  ·  BMW  ·  Amazon  ·  DHL  ·  Foxconn</a:t>
            </a:r>
          </a:p>
        </p:txBody>
      </p:sp>
      <p:sp>
        <p:nvSpPr>
          <p:cNvPr id="19" name="TextBox 18"/>
          <p:cNvSpPr txBox="1"/>
          <p:nvPr/>
        </p:nvSpPr>
        <p:spPr>
          <a:xfrm>
            <a:off x="548640" y="5623560"/>
            <a:ext cx="11064240" cy="365760"/>
          </a:xfrm>
          <a:prstGeom prst="rect">
            <a:avLst/>
          </a:prstGeom>
          <a:noFill/>
        </p:spPr>
        <p:txBody>
          <a:bodyPr wrap="square" lIns="0" rIns="0" anchor="t">
            <a:spAutoFit/>
          </a:bodyPr>
          <a:lstStyle/>
          <a:p>
            <a:pPr algn="l">
              <a:spcAft>
                <a:spcPts val="419"/>
              </a:spcAft>
            </a:pPr>
            <a:r>
              <a:rPr sz="1200" b="0">
                <a:solidFill>
                  <a:srgbClr val="94A3B8"/>
                </a:solidFill>
                <a:latin typeface="Helvetica Neue"/>
              </a:rPr>
              <a:t>Illustrative targets, not current customers.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MARKET</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Every robot needs a network. Nobody watches it.</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7/8</a:t>
            </a:r>
          </a:p>
        </p:txBody>
      </p:sp>
      <p:sp>
        <p:nvSpPr>
          <p:cNvPr id="6" name="TextBox 5"/>
          <p:cNvSpPr txBox="1"/>
          <p:nvPr/>
        </p:nvSpPr>
        <p:spPr>
          <a:xfrm>
            <a:off x="548640" y="6400800"/>
            <a:ext cx="9509760" cy="274320"/>
          </a:xfrm>
          <a:prstGeom prst="rect">
            <a:avLst/>
          </a:prstGeom>
          <a:noFill/>
        </p:spPr>
        <p:txBody>
          <a:bodyPr wrap="square" lIns="0" rIns="0" anchor="t">
            <a:spAutoFit/>
          </a:bodyPr>
          <a:lstStyle/>
          <a:p>
            <a:pPr algn="l">
              <a:spcAft>
                <a:spcPts val="315"/>
              </a:spcAft>
            </a:pPr>
            <a:r>
              <a:rPr sz="900" b="0">
                <a:solidFill>
                  <a:srgbClr val="94A3B8"/>
                </a:solidFill>
                <a:latin typeface="Helvetica Neue"/>
              </a:rPr>
              <a:t>Sources: Dataintelo, Network Observability Platform Market; Mordor Intelligence, Private Networks for Smart Manufacturing. Bottom-up figure is a LineSignal estimate.</a:t>
            </a:r>
          </a:p>
        </p:txBody>
      </p:sp>
      <p:sp>
        <p:nvSpPr>
          <p:cNvPr id="7" name="Rounded Rectangle 6"/>
          <p:cNvSpPr/>
          <p:nvPr/>
        </p:nvSpPr>
        <p:spPr>
          <a:xfrm>
            <a:off x="548640" y="2148840"/>
            <a:ext cx="5120640" cy="3108960"/>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2377440"/>
            <a:ext cx="45720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BOTTOM-UP (OUR ESTIMATE)</a:t>
            </a:r>
          </a:p>
        </p:txBody>
      </p:sp>
      <p:sp>
        <p:nvSpPr>
          <p:cNvPr id="9" name="TextBox 8"/>
          <p:cNvSpPr txBox="1"/>
          <p:nvPr/>
        </p:nvSpPr>
        <p:spPr>
          <a:xfrm>
            <a:off x="868680" y="2788920"/>
            <a:ext cx="4572000" cy="1097280"/>
          </a:xfrm>
          <a:prstGeom prst="rect">
            <a:avLst/>
          </a:prstGeom>
          <a:noFill/>
        </p:spPr>
        <p:txBody>
          <a:bodyPr wrap="square" lIns="0" rIns="0" anchor="t">
            <a:spAutoFit/>
          </a:bodyPr>
          <a:lstStyle/>
          <a:p>
            <a:pPr algn="l">
              <a:spcAft>
                <a:spcPts val="2520"/>
              </a:spcAft>
            </a:pPr>
            <a:r>
              <a:rPr sz="7200" b="1">
                <a:solidFill>
                  <a:srgbClr val="2DD4BF"/>
                </a:solidFill>
                <a:latin typeface="Helvetica Neue"/>
              </a:rPr>
              <a:t>$1.8B</a:t>
            </a:r>
          </a:p>
        </p:txBody>
      </p:sp>
      <p:sp>
        <p:nvSpPr>
          <p:cNvPr id="10" name="TextBox 9"/>
          <p:cNvSpPr txBox="1"/>
          <p:nvPr/>
        </p:nvSpPr>
        <p:spPr>
          <a:xfrm>
            <a:off x="868680" y="3977639"/>
            <a:ext cx="4572000" cy="1097280"/>
          </a:xfrm>
          <a:prstGeom prst="rect">
            <a:avLst/>
          </a:prstGeom>
          <a:noFill/>
        </p:spPr>
        <p:txBody>
          <a:bodyPr wrap="square" lIns="0" rIns="0" anchor="t">
            <a:spAutoFit/>
          </a:bodyPr>
          <a:lstStyle/>
          <a:p>
            <a:pPr algn="l">
              <a:spcAft>
                <a:spcPts val="560"/>
              </a:spcAft>
            </a:pPr>
            <a:r>
              <a:rPr sz="1600" b="0">
                <a:solidFill>
                  <a:srgbClr val="94A3B8"/>
                </a:solidFill>
                <a:latin typeface="Helvetica Neue"/>
              </a:rPr>
              <a:t>5M robots × ~$360 per robot per year. Grows with every robot shipped.</a:t>
            </a:r>
          </a:p>
        </p:txBody>
      </p:sp>
      <p:sp>
        <p:nvSpPr>
          <p:cNvPr id="11" name="Rounded Rectangle 10"/>
          <p:cNvSpPr/>
          <p:nvPr/>
        </p:nvSpPr>
        <p:spPr>
          <a:xfrm>
            <a:off x="5943600" y="2148840"/>
            <a:ext cx="5696712" cy="146304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63640" y="2377440"/>
            <a:ext cx="5120640" cy="640080"/>
          </a:xfrm>
          <a:prstGeom prst="rect">
            <a:avLst/>
          </a:prstGeom>
          <a:noFill/>
        </p:spPr>
        <p:txBody>
          <a:bodyPr wrap="square" lIns="0" rIns="0" anchor="t">
            <a:spAutoFit/>
          </a:bodyPr>
          <a:lstStyle/>
          <a:p>
            <a:pPr algn="l">
              <a:spcAft>
                <a:spcPts val="1120"/>
              </a:spcAft>
            </a:pPr>
            <a:r>
              <a:rPr sz="3200" b="1">
                <a:solidFill>
                  <a:srgbClr val="FFFFFF"/>
                </a:solidFill>
                <a:latin typeface="Helvetica Neue"/>
              </a:rPr>
              <a:t>$3.4B → $10.2B</a:t>
            </a:r>
          </a:p>
        </p:txBody>
      </p:sp>
      <p:sp>
        <p:nvSpPr>
          <p:cNvPr id="13" name="TextBox 12"/>
          <p:cNvSpPr txBox="1"/>
          <p:nvPr/>
        </p:nvSpPr>
        <p:spPr>
          <a:xfrm>
            <a:off x="6263640" y="3017520"/>
            <a:ext cx="5120640" cy="457200"/>
          </a:xfrm>
          <a:prstGeom prst="rect">
            <a:avLst/>
          </a:prstGeom>
          <a:noFill/>
        </p:spPr>
        <p:txBody>
          <a:bodyPr wrap="square" lIns="0" rIns="0" anchor="t">
            <a:spAutoFit/>
          </a:bodyPr>
          <a:lstStyle/>
          <a:p>
            <a:pPr algn="l">
              <a:spcAft>
                <a:spcPts val="525"/>
              </a:spcAft>
            </a:pPr>
            <a:r>
              <a:rPr sz="1500" b="0">
                <a:solidFill>
                  <a:srgbClr val="94A3B8"/>
                </a:solidFill>
                <a:latin typeface="Helvetica Neue"/>
              </a:rPr>
              <a:t>Network observability, by 2034</a:t>
            </a:r>
          </a:p>
        </p:txBody>
      </p:sp>
      <p:sp>
        <p:nvSpPr>
          <p:cNvPr id="14" name="Rounded Rectangle 13"/>
          <p:cNvSpPr/>
          <p:nvPr/>
        </p:nvSpPr>
        <p:spPr>
          <a:xfrm>
            <a:off x="5943600" y="3749040"/>
            <a:ext cx="5696712" cy="1463040"/>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3977640"/>
            <a:ext cx="5120640" cy="640080"/>
          </a:xfrm>
          <a:prstGeom prst="rect">
            <a:avLst/>
          </a:prstGeom>
          <a:noFill/>
        </p:spPr>
        <p:txBody>
          <a:bodyPr wrap="square" lIns="0" rIns="0" anchor="t">
            <a:spAutoFit/>
          </a:bodyPr>
          <a:lstStyle/>
          <a:p>
            <a:pPr algn="l">
              <a:spcAft>
                <a:spcPts val="1120"/>
              </a:spcAft>
            </a:pPr>
            <a:r>
              <a:rPr sz="3200" b="1">
                <a:solidFill>
                  <a:srgbClr val="FFFFFF"/>
                </a:solidFill>
                <a:latin typeface="Helvetica Neue"/>
              </a:rPr>
              <a:t>$1.4B → $8.5B</a:t>
            </a:r>
          </a:p>
        </p:txBody>
      </p:sp>
      <p:sp>
        <p:nvSpPr>
          <p:cNvPr id="16" name="TextBox 15"/>
          <p:cNvSpPr txBox="1"/>
          <p:nvPr/>
        </p:nvSpPr>
        <p:spPr>
          <a:xfrm>
            <a:off x="6263640" y="4617720"/>
            <a:ext cx="5120640" cy="457200"/>
          </a:xfrm>
          <a:prstGeom prst="rect">
            <a:avLst/>
          </a:prstGeom>
          <a:noFill/>
        </p:spPr>
        <p:txBody>
          <a:bodyPr wrap="square" lIns="0" rIns="0" anchor="t">
            <a:spAutoFit/>
          </a:bodyPr>
          <a:lstStyle/>
          <a:p>
            <a:pPr algn="l">
              <a:spcAft>
                <a:spcPts val="525"/>
              </a:spcAft>
            </a:pPr>
            <a:r>
              <a:rPr sz="1500" b="0">
                <a:solidFill>
                  <a:srgbClr val="94A3B8"/>
                </a:solidFill>
                <a:latin typeface="Helvetica Neue"/>
              </a:rPr>
              <a:t>Private factory networks, by 2031</a:t>
            </a:r>
          </a:p>
        </p:txBody>
      </p:sp>
      <p:sp>
        <p:nvSpPr>
          <p:cNvPr id="17" name="Rounded Rectangle 16"/>
          <p:cNvSpPr/>
          <p:nvPr/>
        </p:nvSpPr>
        <p:spPr>
          <a:xfrm>
            <a:off x="548640" y="5532120"/>
            <a:ext cx="11091672" cy="685800"/>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5532120"/>
            <a:ext cx="10607040" cy="685800"/>
          </a:xfrm>
          <a:prstGeom prst="rect">
            <a:avLst/>
          </a:prstGeom>
          <a:noFill/>
        </p:spPr>
        <p:txBody>
          <a:bodyPr wrap="square" lIns="0" rIns="0" anchor="ctr">
            <a:spAutoFit/>
          </a:bodyPr>
          <a:lstStyle/>
          <a:p>
            <a:pPr algn="l">
              <a:spcAft>
                <a:spcPts val="665"/>
              </a:spcAft>
            </a:pPr>
            <a:r>
              <a:rPr sz="1900" b="1">
                <a:solidFill>
                  <a:srgbClr val="FFFFFF"/>
                </a:solidFill>
                <a:latin typeface="Helvetica Neue"/>
              </a:rPr>
              <a:t>Start where customers own the network: factories and warehouses. Then robotaxis and delivery fleets on cellular.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sp>
        <p:nvSpPr>
          <p:cNvPr id="2" name="Rectangle 1"/>
          <p:cNvSpPr/>
          <p:nvPr/>
        </p:nvSpPr>
        <p:spPr>
          <a:xfrm>
            <a:off x="548640" y="502920"/>
            <a:ext cx="73152" cy="292608"/>
          </a:xfrm>
          <a:prstGeom prst="rect">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57200"/>
            <a:ext cx="7315200" cy="365760"/>
          </a:xfrm>
          <a:prstGeom prst="rect">
            <a:avLst/>
          </a:prstGeom>
          <a:noFill/>
        </p:spPr>
        <p:txBody>
          <a:bodyPr wrap="square" lIns="0" rIns="0" anchor="t">
            <a:spAutoFit/>
          </a:bodyPr>
          <a:lstStyle/>
          <a:p>
            <a:pPr algn="l">
              <a:spcAft>
                <a:spcPts val="455"/>
              </a:spcAft>
            </a:pPr>
            <a:r>
              <a:rPr sz="1300" b="1">
                <a:solidFill>
                  <a:srgbClr val="2DD4BF"/>
                </a:solidFill>
                <a:latin typeface="Helvetica Neue"/>
              </a:rPr>
              <a:t>COMPETITION</a:t>
            </a:r>
          </a:p>
        </p:txBody>
      </p:sp>
      <p:sp>
        <p:nvSpPr>
          <p:cNvPr id="4" name="TextBox 3"/>
          <p:cNvSpPr txBox="1"/>
          <p:nvPr/>
        </p:nvSpPr>
        <p:spPr>
          <a:xfrm>
            <a:off x="548640" y="914400"/>
            <a:ext cx="11064240" cy="1005840"/>
          </a:xfrm>
          <a:prstGeom prst="rect">
            <a:avLst/>
          </a:prstGeom>
          <a:noFill/>
        </p:spPr>
        <p:txBody>
          <a:bodyPr wrap="square" lIns="0" rIns="0" anchor="t">
            <a:spAutoFit/>
          </a:bodyPr>
          <a:lstStyle/>
          <a:p>
            <a:pPr algn="l">
              <a:spcAft>
                <a:spcPts val="1189"/>
              </a:spcAft>
            </a:pPr>
            <a:r>
              <a:rPr sz="3400" b="1">
                <a:solidFill>
                  <a:srgbClr val="FFFFFF"/>
                </a:solidFill>
                <a:latin typeface="Helvetica Neue"/>
              </a:rPr>
              <a:t>Others watch one piece. We connect them.</a:t>
            </a:r>
          </a:p>
        </p:txBody>
      </p:sp>
      <p:sp>
        <p:nvSpPr>
          <p:cNvPr id="5" name="TextBox 4"/>
          <p:cNvSpPr txBox="1"/>
          <p:nvPr/>
        </p:nvSpPr>
        <p:spPr>
          <a:xfrm>
            <a:off x="10241280" y="6400800"/>
            <a:ext cx="1371600" cy="274320"/>
          </a:xfrm>
          <a:prstGeom prst="rect">
            <a:avLst/>
          </a:prstGeom>
          <a:noFill/>
        </p:spPr>
        <p:txBody>
          <a:bodyPr wrap="square" lIns="0" rIns="0" anchor="t">
            <a:spAutoFit/>
          </a:bodyPr>
          <a:lstStyle/>
          <a:p>
            <a:pPr algn="r">
              <a:spcAft>
                <a:spcPts val="350"/>
              </a:spcAft>
            </a:pPr>
            <a:r>
              <a:rPr sz="1000" b="0">
                <a:solidFill>
                  <a:srgbClr val="94A3B8"/>
                </a:solidFill>
                <a:latin typeface="Helvetica Neue"/>
              </a:rPr>
              <a:t>LineSignal  ·  8/8</a:t>
            </a:r>
          </a:p>
        </p:txBody>
      </p:sp>
      <p:sp>
        <p:nvSpPr>
          <p:cNvPr id="6" name="TextBox 5"/>
          <p:cNvSpPr txBox="1"/>
          <p:nvPr/>
        </p:nvSpPr>
        <p:spPr>
          <a:xfrm>
            <a:off x="822960" y="1828800"/>
            <a:ext cx="5303520" cy="640080"/>
          </a:xfrm>
          <a:prstGeom prst="rect">
            <a:avLst/>
          </a:prstGeom>
          <a:noFill/>
        </p:spPr>
        <p:txBody>
          <a:bodyPr wrap="square" lIns="0" rIns="0" anchor="ctr">
            <a:spAutoFit/>
          </a:bodyPr>
          <a:lstStyle/>
          <a:p>
            <a:pPr algn="l">
              <a:spcAft>
                <a:spcPts val="489"/>
              </a:spcAft>
            </a:pPr>
            <a:endParaRPr/>
          </a:p>
        </p:txBody>
      </p:sp>
      <p:sp>
        <p:nvSpPr>
          <p:cNvPr id="7" name="TextBox 6"/>
          <p:cNvSpPr txBox="1"/>
          <p:nvPr/>
        </p:nvSpPr>
        <p:spPr>
          <a:xfrm>
            <a:off x="6400800" y="1828800"/>
            <a:ext cx="1554480" cy="640080"/>
          </a:xfrm>
          <a:prstGeom prst="rect">
            <a:avLst/>
          </a:prstGeom>
          <a:noFill/>
        </p:spPr>
        <p:txBody>
          <a:bodyPr wrap="square" lIns="0" rIns="0" anchor="ctr">
            <a:spAutoFit/>
          </a:bodyPr>
          <a:lstStyle/>
          <a:p>
            <a:pPr algn="ctr">
              <a:spcAft>
                <a:spcPts val="489"/>
              </a:spcAft>
            </a:pPr>
            <a:r>
              <a:rPr sz="1400" b="1">
                <a:solidFill>
                  <a:srgbClr val="94A3B8"/>
                </a:solidFill>
                <a:latin typeface="Helvetica Neue"/>
              </a:rPr>
              <a:t>Robots</a:t>
            </a:r>
          </a:p>
        </p:txBody>
      </p:sp>
      <p:sp>
        <p:nvSpPr>
          <p:cNvPr id="8" name="TextBox 7"/>
          <p:cNvSpPr txBox="1"/>
          <p:nvPr/>
        </p:nvSpPr>
        <p:spPr>
          <a:xfrm>
            <a:off x="8229600" y="1828800"/>
            <a:ext cx="1554480" cy="640080"/>
          </a:xfrm>
          <a:prstGeom prst="rect">
            <a:avLst/>
          </a:prstGeom>
          <a:noFill/>
        </p:spPr>
        <p:txBody>
          <a:bodyPr wrap="square" lIns="0" rIns="0" anchor="ctr">
            <a:spAutoFit/>
          </a:bodyPr>
          <a:lstStyle/>
          <a:p>
            <a:pPr algn="ctr">
              <a:spcAft>
                <a:spcPts val="489"/>
              </a:spcAft>
            </a:pPr>
            <a:r>
              <a:rPr sz="1400" b="1">
                <a:solidFill>
                  <a:srgbClr val="94A3B8"/>
                </a:solidFill>
                <a:latin typeface="Helvetica Neue"/>
              </a:rPr>
              <a:t>Network</a:t>
            </a:r>
          </a:p>
        </p:txBody>
      </p:sp>
      <p:sp>
        <p:nvSpPr>
          <p:cNvPr id="9" name="TextBox 8"/>
          <p:cNvSpPr txBox="1"/>
          <p:nvPr/>
        </p:nvSpPr>
        <p:spPr>
          <a:xfrm>
            <a:off x="10058400" y="1828800"/>
            <a:ext cx="1581911" cy="640080"/>
          </a:xfrm>
          <a:prstGeom prst="rect">
            <a:avLst/>
          </a:prstGeom>
          <a:noFill/>
        </p:spPr>
        <p:txBody>
          <a:bodyPr wrap="square" lIns="0" rIns="0" anchor="ctr">
            <a:spAutoFit/>
          </a:bodyPr>
          <a:lstStyle/>
          <a:p>
            <a:pPr algn="ctr">
              <a:spcAft>
                <a:spcPts val="489"/>
              </a:spcAft>
            </a:pPr>
            <a:r>
              <a:rPr sz="1400" b="1">
                <a:solidFill>
                  <a:srgbClr val="94A3B8"/>
                </a:solidFill>
                <a:latin typeface="Helvetica Neue"/>
              </a:rPr>
              <a:t>Connects both</a:t>
            </a:r>
          </a:p>
        </p:txBody>
      </p:sp>
      <p:sp>
        <p:nvSpPr>
          <p:cNvPr id="10" name="Rounded Rectangle 9"/>
          <p:cNvSpPr/>
          <p:nvPr/>
        </p:nvSpPr>
        <p:spPr>
          <a:xfrm>
            <a:off x="548640" y="2523744"/>
            <a:ext cx="11091671" cy="530352"/>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468880"/>
            <a:ext cx="5303520" cy="640080"/>
          </a:xfrm>
          <a:prstGeom prst="rect">
            <a:avLst/>
          </a:prstGeom>
          <a:noFill/>
        </p:spPr>
        <p:txBody>
          <a:bodyPr wrap="square" lIns="0" rIns="0" anchor="ctr">
            <a:spAutoFit/>
          </a:bodyPr>
          <a:lstStyle/>
          <a:p>
            <a:pPr algn="l">
              <a:spcAft>
                <a:spcPts val="560"/>
              </a:spcAft>
            </a:pPr>
            <a:r>
              <a:rPr sz="1600" b="0">
                <a:solidFill>
                  <a:srgbClr val="FFFFFF"/>
                </a:solidFill>
                <a:latin typeface="Helvetica Neue"/>
              </a:rPr>
              <a:t>Robot fleet tools (Formant, InOrbit)</a:t>
            </a:r>
          </a:p>
        </p:txBody>
      </p:sp>
      <p:sp>
        <p:nvSpPr>
          <p:cNvPr id="12" name="TextBox 11"/>
          <p:cNvSpPr txBox="1"/>
          <p:nvPr/>
        </p:nvSpPr>
        <p:spPr>
          <a:xfrm>
            <a:off x="6400800" y="2468880"/>
            <a:ext cx="1554480" cy="640080"/>
          </a:xfrm>
          <a:prstGeom prst="rect">
            <a:avLst/>
          </a:prstGeom>
          <a:noFill/>
        </p:spPr>
        <p:txBody>
          <a:bodyPr wrap="square" lIns="0" rIns="0" anchor="ctr">
            <a:spAutoFit/>
          </a:bodyPr>
          <a:lstStyle/>
          <a:p>
            <a:pPr algn="ctr">
              <a:spcAft>
                <a:spcPts val="560"/>
              </a:spcAft>
            </a:pPr>
            <a:r>
              <a:rPr sz="1600" b="1">
                <a:solidFill>
                  <a:srgbClr val="4ADE80"/>
                </a:solidFill>
                <a:latin typeface="Helvetica Neue"/>
              </a:rPr>
              <a:t>Yes</a:t>
            </a:r>
          </a:p>
        </p:txBody>
      </p:sp>
      <p:sp>
        <p:nvSpPr>
          <p:cNvPr id="13" name="TextBox 12"/>
          <p:cNvSpPr txBox="1"/>
          <p:nvPr/>
        </p:nvSpPr>
        <p:spPr>
          <a:xfrm>
            <a:off x="8229600" y="2468880"/>
            <a:ext cx="1554480" cy="640080"/>
          </a:xfrm>
          <a:prstGeom prst="rect">
            <a:avLst/>
          </a:prstGeom>
          <a:noFill/>
        </p:spPr>
        <p:txBody>
          <a:bodyPr wrap="square" lIns="0" rIns="0" anchor="ctr">
            <a:spAutoFit/>
          </a:bodyPr>
          <a:lstStyle/>
          <a:p>
            <a:pPr algn="ctr">
              <a:spcAft>
                <a:spcPts val="560"/>
              </a:spcAft>
            </a:pPr>
            <a:r>
              <a:rPr sz="1600" b="1">
                <a:solidFill>
                  <a:srgbClr val="94A3B8"/>
                </a:solidFill>
                <a:latin typeface="Helvetica Neue"/>
              </a:rPr>
              <a:t>No</a:t>
            </a:r>
          </a:p>
        </p:txBody>
      </p:sp>
      <p:sp>
        <p:nvSpPr>
          <p:cNvPr id="14" name="TextBox 13"/>
          <p:cNvSpPr txBox="1"/>
          <p:nvPr/>
        </p:nvSpPr>
        <p:spPr>
          <a:xfrm>
            <a:off x="10058400" y="2468880"/>
            <a:ext cx="1581911" cy="640080"/>
          </a:xfrm>
          <a:prstGeom prst="rect">
            <a:avLst/>
          </a:prstGeom>
          <a:noFill/>
        </p:spPr>
        <p:txBody>
          <a:bodyPr wrap="square" lIns="0" rIns="0" anchor="ctr">
            <a:spAutoFit/>
          </a:bodyPr>
          <a:lstStyle/>
          <a:p>
            <a:pPr algn="ctr">
              <a:spcAft>
                <a:spcPts val="560"/>
              </a:spcAft>
            </a:pPr>
            <a:r>
              <a:rPr sz="1600" b="1">
                <a:solidFill>
                  <a:srgbClr val="94A3B8"/>
                </a:solidFill>
                <a:latin typeface="Helvetica Neue"/>
              </a:rPr>
              <a:t>No</a:t>
            </a:r>
          </a:p>
        </p:txBody>
      </p:sp>
      <p:sp>
        <p:nvSpPr>
          <p:cNvPr id="15" name="Rounded Rectangle 14"/>
          <p:cNvSpPr/>
          <p:nvPr/>
        </p:nvSpPr>
        <p:spPr>
          <a:xfrm>
            <a:off x="548640" y="3163824"/>
            <a:ext cx="11091671" cy="530352"/>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2960" y="3108960"/>
            <a:ext cx="5303520" cy="640080"/>
          </a:xfrm>
          <a:prstGeom prst="rect">
            <a:avLst/>
          </a:prstGeom>
          <a:noFill/>
        </p:spPr>
        <p:txBody>
          <a:bodyPr wrap="square" lIns="0" rIns="0" anchor="ctr">
            <a:spAutoFit/>
          </a:bodyPr>
          <a:lstStyle/>
          <a:p>
            <a:pPr algn="l">
              <a:spcAft>
                <a:spcPts val="560"/>
              </a:spcAft>
            </a:pPr>
            <a:r>
              <a:rPr sz="1600" b="0">
                <a:solidFill>
                  <a:srgbClr val="FFFFFF"/>
                </a:solidFill>
                <a:latin typeface="Helvetica Neue"/>
              </a:rPr>
              <a:t>Wi-Fi AI tools (Juniper Mist, Cisco Meraki)</a:t>
            </a:r>
          </a:p>
        </p:txBody>
      </p:sp>
      <p:sp>
        <p:nvSpPr>
          <p:cNvPr id="17" name="TextBox 16"/>
          <p:cNvSpPr txBox="1"/>
          <p:nvPr/>
        </p:nvSpPr>
        <p:spPr>
          <a:xfrm>
            <a:off x="6400800" y="3108960"/>
            <a:ext cx="1554480" cy="640080"/>
          </a:xfrm>
          <a:prstGeom prst="rect">
            <a:avLst/>
          </a:prstGeom>
          <a:noFill/>
        </p:spPr>
        <p:txBody>
          <a:bodyPr wrap="square" lIns="0" rIns="0" anchor="ctr">
            <a:spAutoFit/>
          </a:bodyPr>
          <a:lstStyle/>
          <a:p>
            <a:pPr algn="ctr">
              <a:spcAft>
                <a:spcPts val="560"/>
              </a:spcAft>
            </a:pPr>
            <a:r>
              <a:rPr sz="1600" b="1">
                <a:solidFill>
                  <a:srgbClr val="94A3B8"/>
                </a:solidFill>
                <a:latin typeface="Helvetica Neue"/>
              </a:rPr>
              <a:t>No</a:t>
            </a:r>
          </a:p>
        </p:txBody>
      </p:sp>
      <p:sp>
        <p:nvSpPr>
          <p:cNvPr id="18" name="TextBox 17"/>
          <p:cNvSpPr txBox="1"/>
          <p:nvPr/>
        </p:nvSpPr>
        <p:spPr>
          <a:xfrm>
            <a:off x="8229600" y="3108960"/>
            <a:ext cx="1554480" cy="640080"/>
          </a:xfrm>
          <a:prstGeom prst="rect">
            <a:avLst/>
          </a:prstGeom>
          <a:noFill/>
        </p:spPr>
        <p:txBody>
          <a:bodyPr wrap="square" lIns="0" rIns="0" anchor="ctr">
            <a:spAutoFit/>
          </a:bodyPr>
          <a:lstStyle/>
          <a:p>
            <a:pPr algn="ctr">
              <a:spcAft>
                <a:spcPts val="560"/>
              </a:spcAft>
            </a:pPr>
            <a:r>
              <a:rPr sz="1600" b="1">
                <a:solidFill>
                  <a:srgbClr val="4ADE80"/>
                </a:solidFill>
                <a:latin typeface="Helvetica Neue"/>
              </a:rPr>
              <a:t>Yes</a:t>
            </a:r>
          </a:p>
        </p:txBody>
      </p:sp>
      <p:sp>
        <p:nvSpPr>
          <p:cNvPr id="19" name="TextBox 18"/>
          <p:cNvSpPr txBox="1"/>
          <p:nvPr/>
        </p:nvSpPr>
        <p:spPr>
          <a:xfrm>
            <a:off x="10058400" y="3108960"/>
            <a:ext cx="1581911" cy="640080"/>
          </a:xfrm>
          <a:prstGeom prst="rect">
            <a:avLst/>
          </a:prstGeom>
          <a:noFill/>
        </p:spPr>
        <p:txBody>
          <a:bodyPr wrap="square" lIns="0" rIns="0" anchor="ctr">
            <a:spAutoFit/>
          </a:bodyPr>
          <a:lstStyle/>
          <a:p>
            <a:pPr algn="ctr">
              <a:spcAft>
                <a:spcPts val="560"/>
              </a:spcAft>
            </a:pPr>
            <a:r>
              <a:rPr sz="1600" b="1">
                <a:solidFill>
                  <a:srgbClr val="94A3B8"/>
                </a:solidFill>
                <a:latin typeface="Helvetica Neue"/>
              </a:rPr>
              <a:t>No</a:t>
            </a:r>
          </a:p>
        </p:txBody>
      </p:sp>
      <p:sp>
        <p:nvSpPr>
          <p:cNvPr id="20" name="Rounded Rectangle 19"/>
          <p:cNvSpPr/>
          <p:nvPr/>
        </p:nvSpPr>
        <p:spPr>
          <a:xfrm>
            <a:off x="548640" y="3803904"/>
            <a:ext cx="11091671" cy="530352"/>
          </a:xfrm>
          <a:prstGeom prst="roundRect">
            <a:avLst>
              <a:gd name="adj" fmla="val 8000"/>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3749040"/>
            <a:ext cx="5303520" cy="640080"/>
          </a:xfrm>
          <a:prstGeom prst="rect">
            <a:avLst/>
          </a:prstGeom>
          <a:noFill/>
        </p:spPr>
        <p:txBody>
          <a:bodyPr wrap="square" lIns="0" rIns="0" anchor="ctr">
            <a:spAutoFit/>
          </a:bodyPr>
          <a:lstStyle/>
          <a:p>
            <a:pPr algn="l">
              <a:spcAft>
                <a:spcPts val="560"/>
              </a:spcAft>
            </a:pPr>
            <a:r>
              <a:rPr sz="1600" b="0">
                <a:solidFill>
                  <a:srgbClr val="FFFFFF"/>
                </a:solidFill>
                <a:latin typeface="Helvetica Neue"/>
              </a:rPr>
              <a:t>IT monitoring (Datadog, Dynatrace)</a:t>
            </a:r>
          </a:p>
        </p:txBody>
      </p:sp>
      <p:sp>
        <p:nvSpPr>
          <p:cNvPr id="22" name="TextBox 21"/>
          <p:cNvSpPr txBox="1"/>
          <p:nvPr/>
        </p:nvSpPr>
        <p:spPr>
          <a:xfrm>
            <a:off x="6400800" y="3749040"/>
            <a:ext cx="1554480" cy="640080"/>
          </a:xfrm>
          <a:prstGeom prst="rect">
            <a:avLst/>
          </a:prstGeom>
          <a:noFill/>
        </p:spPr>
        <p:txBody>
          <a:bodyPr wrap="square" lIns="0" rIns="0" anchor="ctr">
            <a:spAutoFit/>
          </a:bodyPr>
          <a:lstStyle/>
          <a:p>
            <a:pPr algn="ctr">
              <a:spcAft>
                <a:spcPts val="560"/>
              </a:spcAft>
            </a:pPr>
            <a:r>
              <a:rPr sz="1600" b="1">
                <a:solidFill>
                  <a:srgbClr val="94A3B8"/>
                </a:solidFill>
                <a:latin typeface="Helvetica Neue"/>
              </a:rPr>
              <a:t>No</a:t>
            </a:r>
          </a:p>
        </p:txBody>
      </p:sp>
      <p:sp>
        <p:nvSpPr>
          <p:cNvPr id="23" name="TextBox 22"/>
          <p:cNvSpPr txBox="1"/>
          <p:nvPr/>
        </p:nvSpPr>
        <p:spPr>
          <a:xfrm>
            <a:off x="8229600" y="3749040"/>
            <a:ext cx="1554480" cy="640080"/>
          </a:xfrm>
          <a:prstGeom prst="rect">
            <a:avLst/>
          </a:prstGeom>
          <a:noFill/>
        </p:spPr>
        <p:txBody>
          <a:bodyPr wrap="square" lIns="0" rIns="0" anchor="ctr">
            <a:spAutoFit/>
          </a:bodyPr>
          <a:lstStyle/>
          <a:p>
            <a:pPr algn="ctr">
              <a:spcAft>
                <a:spcPts val="560"/>
              </a:spcAft>
            </a:pPr>
            <a:r>
              <a:rPr sz="1600" b="1">
                <a:solidFill>
                  <a:srgbClr val="FBBF24"/>
                </a:solidFill>
                <a:latin typeface="Helvetica Neue"/>
              </a:rPr>
              <a:t>Partly</a:t>
            </a:r>
          </a:p>
        </p:txBody>
      </p:sp>
      <p:sp>
        <p:nvSpPr>
          <p:cNvPr id="24" name="TextBox 23"/>
          <p:cNvSpPr txBox="1"/>
          <p:nvPr/>
        </p:nvSpPr>
        <p:spPr>
          <a:xfrm>
            <a:off x="10058400" y="3749040"/>
            <a:ext cx="1581911" cy="640080"/>
          </a:xfrm>
          <a:prstGeom prst="rect">
            <a:avLst/>
          </a:prstGeom>
          <a:noFill/>
        </p:spPr>
        <p:txBody>
          <a:bodyPr wrap="square" lIns="0" rIns="0" anchor="ctr">
            <a:spAutoFit/>
          </a:bodyPr>
          <a:lstStyle/>
          <a:p>
            <a:pPr algn="ctr">
              <a:spcAft>
                <a:spcPts val="560"/>
              </a:spcAft>
            </a:pPr>
            <a:r>
              <a:rPr sz="1600" b="1">
                <a:solidFill>
                  <a:srgbClr val="94A3B8"/>
                </a:solidFill>
                <a:latin typeface="Helvetica Neue"/>
              </a:rPr>
              <a:t>No</a:t>
            </a:r>
          </a:p>
        </p:txBody>
      </p:sp>
      <p:sp>
        <p:nvSpPr>
          <p:cNvPr id="25" name="Rounded Rectangle 24"/>
          <p:cNvSpPr/>
          <p:nvPr/>
        </p:nvSpPr>
        <p:spPr>
          <a:xfrm>
            <a:off x="548640" y="4443984"/>
            <a:ext cx="11091671" cy="530352"/>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 y="4389120"/>
            <a:ext cx="5303520" cy="640080"/>
          </a:xfrm>
          <a:prstGeom prst="rect">
            <a:avLst/>
          </a:prstGeom>
          <a:noFill/>
        </p:spPr>
        <p:txBody>
          <a:bodyPr wrap="square" lIns="0" rIns="0" anchor="ctr">
            <a:spAutoFit/>
          </a:bodyPr>
          <a:lstStyle/>
          <a:p>
            <a:pPr algn="l">
              <a:spcAft>
                <a:spcPts val="630"/>
              </a:spcAft>
            </a:pPr>
            <a:r>
              <a:rPr sz="1800" b="1">
                <a:solidFill>
                  <a:srgbClr val="FFFFFF"/>
                </a:solidFill>
                <a:latin typeface="Helvetica Neue"/>
              </a:rPr>
              <a:t>LineSignal</a:t>
            </a:r>
          </a:p>
        </p:txBody>
      </p:sp>
      <p:sp>
        <p:nvSpPr>
          <p:cNvPr id="27" name="TextBox 26"/>
          <p:cNvSpPr txBox="1"/>
          <p:nvPr/>
        </p:nvSpPr>
        <p:spPr>
          <a:xfrm>
            <a:off x="6400800" y="4389120"/>
            <a:ext cx="1554480" cy="640080"/>
          </a:xfrm>
          <a:prstGeom prst="rect">
            <a:avLst/>
          </a:prstGeom>
          <a:noFill/>
        </p:spPr>
        <p:txBody>
          <a:bodyPr wrap="square" lIns="0" rIns="0" anchor="ctr">
            <a:spAutoFit/>
          </a:bodyPr>
          <a:lstStyle/>
          <a:p>
            <a:pPr algn="ctr">
              <a:spcAft>
                <a:spcPts val="630"/>
              </a:spcAft>
            </a:pPr>
            <a:r>
              <a:rPr sz="1800" b="1">
                <a:solidFill>
                  <a:srgbClr val="4ADE80"/>
                </a:solidFill>
                <a:latin typeface="Helvetica Neue"/>
              </a:rPr>
              <a:t>Yes</a:t>
            </a:r>
          </a:p>
        </p:txBody>
      </p:sp>
      <p:sp>
        <p:nvSpPr>
          <p:cNvPr id="28" name="TextBox 27"/>
          <p:cNvSpPr txBox="1"/>
          <p:nvPr/>
        </p:nvSpPr>
        <p:spPr>
          <a:xfrm>
            <a:off x="8229600" y="4389120"/>
            <a:ext cx="1554480" cy="640080"/>
          </a:xfrm>
          <a:prstGeom prst="rect">
            <a:avLst/>
          </a:prstGeom>
          <a:noFill/>
        </p:spPr>
        <p:txBody>
          <a:bodyPr wrap="square" lIns="0" rIns="0" anchor="ctr">
            <a:spAutoFit/>
          </a:bodyPr>
          <a:lstStyle/>
          <a:p>
            <a:pPr algn="ctr">
              <a:spcAft>
                <a:spcPts val="630"/>
              </a:spcAft>
            </a:pPr>
            <a:r>
              <a:rPr sz="1800" b="1">
                <a:solidFill>
                  <a:srgbClr val="4ADE80"/>
                </a:solidFill>
                <a:latin typeface="Helvetica Neue"/>
              </a:rPr>
              <a:t>Yes</a:t>
            </a:r>
          </a:p>
        </p:txBody>
      </p:sp>
      <p:sp>
        <p:nvSpPr>
          <p:cNvPr id="29" name="TextBox 28"/>
          <p:cNvSpPr txBox="1"/>
          <p:nvPr/>
        </p:nvSpPr>
        <p:spPr>
          <a:xfrm>
            <a:off x="10058400" y="4389120"/>
            <a:ext cx="1581911" cy="640080"/>
          </a:xfrm>
          <a:prstGeom prst="rect">
            <a:avLst/>
          </a:prstGeom>
          <a:noFill/>
        </p:spPr>
        <p:txBody>
          <a:bodyPr wrap="square" lIns="0" rIns="0" anchor="ctr">
            <a:spAutoFit/>
          </a:bodyPr>
          <a:lstStyle/>
          <a:p>
            <a:pPr algn="ctr">
              <a:spcAft>
                <a:spcPts val="630"/>
              </a:spcAft>
            </a:pPr>
            <a:r>
              <a:rPr sz="1800" b="1">
                <a:solidFill>
                  <a:srgbClr val="4ADE80"/>
                </a:solidFill>
                <a:latin typeface="Helvetica Neue"/>
              </a:rPr>
              <a:t>Yes</a:t>
            </a:r>
          </a:p>
        </p:txBody>
      </p:sp>
      <p:sp>
        <p:nvSpPr>
          <p:cNvPr id="30" name="Rounded Rectangle 29"/>
          <p:cNvSpPr/>
          <p:nvPr/>
        </p:nvSpPr>
        <p:spPr>
          <a:xfrm>
            <a:off x="548640" y="5532120"/>
            <a:ext cx="11091672" cy="685800"/>
          </a:xfrm>
          <a:prstGeom prst="roundRect">
            <a:avLst>
              <a:gd name="adj" fmla="val 8000"/>
            </a:avLst>
          </a:prstGeom>
          <a:solidFill>
            <a:srgbClr val="141E33"/>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532120"/>
            <a:ext cx="10607040" cy="685800"/>
          </a:xfrm>
          <a:prstGeom prst="rect">
            <a:avLst/>
          </a:prstGeom>
          <a:noFill/>
        </p:spPr>
        <p:txBody>
          <a:bodyPr wrap="square" lIns="0" rIns="0" anchor="ctr">
            <a:spAutoFit/>
          </a:bodyPr>
          <a:lstStyle/>
          <a:p>
            <a:pPr algn="l">
              <a:spcAft>
                <a:spcPts val="665"/>
              </a:spcAft>
            </a:pPr>
            <a:r>
              <a:rPr sz="1900" b="1">
                <a:solidFill>
                  <a:srgbClr val="FFFFFF"/>
                </a:solidFill>
                <a:latin typeface="Helvetica Neue"/>
              </a:rPr>
              <a:t>Our edge: a live map of what depends on what, so we can tell a robot fault from a Wi-Fi fault from a data problem.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17</TotalTime>
  <Words>1265</Words>
  <Application>Microsoft Macintosh PowerPoint</Application>
  <PresentationFormat>Widescreen</PresentationFormat>
  <Paragraphs>123</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Shraddha Chandrashekhar Yeole (shyeole)</cp:lastModifiedBy>
  <cp:revision>1</cp:revision>
  <dcterms:created xsi:type="dcterms:W3CDTF">2013-01-27T09:14:16Z</dcterms:created>
  <dcterms:modified xsi:type="dcterms:W3CDTF">2026-09-29T22:39:25Z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